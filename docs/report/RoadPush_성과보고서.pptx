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76" r:id="rId2"/>
    <p:sldId id="283" r:id="rId3"/>
    <p:sldId id="278" r:id="rId4"/>
    <p:sldId id="279" r:id="rId5"/>
    <p:sldId id="284" r:id="rId13"/>
  </p:sldIdLst>
  <p:sldSz cx="24384000" cy="13716000"/>
  <p:notesSz cx="7099300" cy="10234613"/>
  <p:embeddedFontLst>
    <p:embeddedFont>
      <p:font typeface="Pretendard Light" panose="020B0600000101010101" charset="-127"/>
      <p:regular r:id="rId6"/>
    </p:embeddedFont>
    <p:embeddedFont>
      <p:font typeface="Pretendard Regular" panose="020B0600000101010101" charset="-127"/>
      <p:regular r:id="rId7"/>
    </p:embeddedFont>
    <p:embeddedFont>
      <p:font typeface="Pretendard SemiBold" panose="020B0600000101010101" charset="-127"/>
      <p:bold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BF89"/>
    <a:srgbClr val="DDDDDD"/>
    <a:srgbClr val="FFA202"/>
    <a:srgbClr val="4D9CFE"/>
    <a:srgbClr val="558ED5"/>
    <a:srgbClr val="232126"/>
    <a:srgbClr val="C2C2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79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font" Target="fonts/font1.fntdata"/><Relationship Id="rId7" Type="http://schemas.openxmlformats.org/officeDocument/2006/relationships/font" Target="fonts/font2.fntdata"/><Relationship Id="rId8" Type="http://schemas.openxmlformats.org/officeDocument/2006/relationships/font" Target="fonts/font3.fntdata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800" b="0">
                <a:solidFill>
                  <a:srgbClr val="14161B"/>
                </a:solidFill>
                <a:latin typeface="Pretendard SemiBold"/>
                <a:ea typeface="Pretendard SemiBold"/>
                <a:cs typeface="Pretendard SemiBold"/>
              </a:rPr>
              <a:t>지나갈 폭 비율 오차 (낮을수록 좋음)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지나갈 폭 비율 오차 (낮을수록 좋음)</c:v>
                </c:pt>
              </c:strCache>
            </c:strRef>
          </c:tx>
          <c:dPt>
            <c:idx val="0"/>
            <c:spPr>
              <a:solidFill>
                <a:srgbClr val="B5B9C0"/>
              </a:solidFill>
            </c:spPr>
          </c:dPt>
          <c:dPt>
            <c:idx val="1"/>
            <c:spPr>
              <a:solidFill>
                <a:srgbClr val="B5B9C0"/>
              </a:solidFill>
            </c:spPr>
          </c:dPt>
          <c:dPt>
            <c:idx val="2"/>
            <c:spPr>
              <a:solidFill>
                <a:srgbClr val="2A6FD6"/>
              </a:solidFill>
            </c:spPr>
          </c:dPt>
          <c:cat>
            <c:strRef>
              <c:f>Sheet1!$A$2:$A$4</c:f>
              <c:strCache>
                <c:ptCount val="3"/>
                <c:pt idx="0">
                  <c:v>GDINO+SAM 2
(범용)</c:v>
                </c:pt>
                <c:pt idx="1">
                  <c:v>SAM 3
(범용)</c:v>
                </c:pt>
                <c:pt idx="2">
                  <c:v>RoadPush
(파인튜닝)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</c:v>
                </c:pt>
                <c:pt idx="1">
                  <c:v>0.109</c:v>
                </c:pt>
                <c:pt idx="2">
                  <c:v>0.038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800" b="1">
                  <a:latin typeface="Pretendard SemiBol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500">
                <a:solidFill>
                  <a:srgbClr val="4F535B"/>
                </a:solidFill>
                <a:latin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24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800" b="0">
                <a:solidFill>
                  <a:srgbClr val="14161B"/>
                </a:solidFill>
                <a:latin typeface="Pretendard SemiBold"/>
                <a:ea typeface="Pretendard SemiBold"/>
                <a:cs typeface="Pretendard SemiBold"/>
              </a:rPr>
              <a:t>장애물 인식 mIoU (높을수록 좋음)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장애물 인식 mIoU (높을수록 좋음)</c:v>
                </c:pt>
              </c:strCache>
            </c:strRef>
          </c:tx>
          <c:dPt>
            <c:idx val="0"/>
            <c:spPr>
              <a:solidFill>
                <a:srgbClr val="B5B9C0"/>
              </a:solidFill>
            </c:spPr>
          </c:dPt>
          <c:dPt>
            <c:idx val="1"/>
            <c:spPr>
              <a:solidFill>
                <a:srgbClr val="B5B9C0"/>
              </a:solidFill>
            </c:spPr>
          </c:dPt>
          <c:dPt>
            <c:idx val="2"/>
            <c:spPr>
              <a:solidFill>
                <a:srgbClr val="2A6FD6"/>
              </a:solidFill>
            </c:spPr>
          </c:dPt>
          <c:cat>
            <c:strRef>
              <c:f>Sheet1!$A$2:$A$4</c:f>
              <c:strCache>
                <c:ptCount val="3"/>
                <c:pt idx="0">
                  <c:v>GDINO+SAM 2
(범용)</c:v>
                </c:pt>
                <c:pt idx="1">
                  <c:v>SAM 3
(범용)</c:v>
                </c:pt>
                <c:pt idx="2">
                  <c:v>RoadPush
(파인튜닝)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0.373</c:v>
                </c:pt>
                <c:pt idx="1">
                  <c:v>0.518</c:v>
                </c:pt>
                <c:pt idx="2">
                  <c:v>0.701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800" b="1">
                  <a:latin typeface="Pretendard SemiBol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500">
                <a:solidFill>
                  <a:srgbClr val="4F535B"/>
                </a:solidFill>
                <a:latin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5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jpg"/><Relationship Id="rId5" Type="http://schemas.openxmlformats.org/officeDocument/2006/relationships/image" Target="../media/image7.jpg"/><Relationship Id="rId6" Type="http://schemas.openxmlformats.org/officeDocument/2006/relationships/image" Target="../media/image8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9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chart" Target="../charts/chart1.xml"/><Relationship Id="rId5" Type="http://schemas.openxmlformats.org/officeDocument/2006/relationships/chart" Target="../charts/chart2.xml"/><Relationship Id="rId6" Type="http://schemas.openxmlformats.org/officeDocument/2006/relationships/image" Target="../media/image10.jpg"/><Relationship Id="rId7" Type="http://schemas.openxmlformats.org/officeDocument/2006/relationships/image" Target="../media/image11.jpg"/><Relationship Id="rId8" Type="http://schemas.openxmlformats.org/officeDocument/2006/relationships/image" Target="../media/image12.jpg"/><Relationship Id="rId9" Type="http://schemas.openxmlformats.org/officeDocument/2006/relationships/image" Target="../media/image1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DA9DA3A-148B-DB49-EBC3-9E5D49F390A8}"/>
              </a:ext>
            </a:extLst>
          </p:cNvPr>
          <p:cNvSpPr txBox="1"/>
          <p:nvPr/>
        </p:nvSpPr>
        <p:spPr>
          <a:xfrm>
            <a:off x="1244600" y="1054100"/>
            <a:ext cx="173736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514350" lvl="0" indent="-514350" algn="l">
              <a:lnSpc>
                <a:spcPct val="116199"/>
              </a:lnSpc>
              <a:buAutoNum type="arabicPeriod"/>
            </a:pPr>
            <a:r>
              <a:rPr lang="en-US" altLang="ko-KR" sz="3333" dirty="0">
                <a:solidFill>
                  <a:srgbClr val="4D9CFE"/>
                </a:solidFill>
                <a:latin typeface="Pretendard SemiBold"/>
                <a:ea typeface="Pretendard SemiBold"/>
                <a:cs typeface="Pretendard SemiBold"/>
              </a:rPr>
              <a:t>AI</a:t>
            </a:r>
            <a:r>
              <a:rPr lang="ko-KR" altLang="en-US" sz="3333" dirty="0">
                <a:solidFill>
                  <a:srgbClr val="4D9CFE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ko-KR" altLang="en-US" sz="3333" dirty="0" err="1">
                <a:solidFill>
                  <a:srgbClr val="4D9CFE"/>
                </a:solidFill>
                <a:latin typeface="Pretendard SemiBold"/>
                <a:ea typeface="Pretendard SemiBold"/>
                <a:cs typeface="Pretendard SemiBold"/>
              </a:rPr>
              <a:t>기술명</a:t>
            </a:r>
            <a:endParaRPr lang="en-US" altLang="ko-KR" sz="3333" b="0" i="0" u="none" strike="noStrike" dirty="0">
              <a:solidFill>
                <a:srgbClr val="4D9CFE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4" name="Picture 10">
            <a:extLst>
              <a:ext uri="{FF2B5EF4-FFF2-40B4-BE49-F238E27FC236}">
                <a16:creationId xmlns:a16="http://schemas.microsoft.com/office/drawing/2014/main" id="{CDACE552-8D4D-AFDD-E6F7-7E219873875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20497800" y="355600"/>
            <a:ext cx="3556000" cy="355600"/>
          </a:xfrm>
          <a:prstGeom prst="rect">
            <a:avLst/>
          </a:prstGeom>
        </p:spPr>
      </p:pic>
      <p:pic>
        <p:nvPicPr>
          <p:cNvPr id="5" name="Picture 11">
            <a:extLst>
              <a:ext uri="{FF2B5EF4-FFF2-40B4-BE49-F238E27FC236}">
                <a16:creationId xmlns:a16="http://schemas.microsoft.com/office/drawing/2014/main" id="{BA793571-349F-8EE6-DBF6-6BE6DF5E4B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7200" y="939800"/>
            <a:ext cx="4902200" cy="12700"/>
          </a:xfrm>
          <a:prstGeom prst="rect">
            <a:avLst/>
          </a:prstGeom>
        </p:spPr>
      </p:pic>
      <p:sp>
        <p:nvSpPr>
          <p:cNvPr id="6" name="TextBox 12">
            <a:extLst>
              <a:ext uri="{FF2B5EF4-FFF2-40B4-BE49-F238E27FC236}">
                <a16:creationId xmlns:a16="http://schemas.microsoft.com/office/drawing/2014/main" id="{F067BD04-7F88-DACD-4C3F-86612B0C4F13}"/>
              </a:ext>
            </a:extLst>
          </p:cNvPr>
          <p:cNvSpPr txBox="1"/>
          <p:nvPr/>
        </p:nvSpPr>
        <p:spPr>
          <a:xfrm>
            <a:off x="19697700" y="330200"/>
            <a:ext cx="7747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400" dirty="0">
                <a:solidFill>
                  <a:srgbClr val="828282"/>
                </a:solidFill>
                <a:latin typeface="Pretendard Light"/>
                <a:ea typeface="Pretendard Light"/>
                <a:cs typeface="Pretendard Light"/>
              </a:rPr>
              <a:t>1</a:t>
            </a:r>
            <a:endParaRPr lang="en-US" sz="2400" b="0" i="0" u="none" strike="noStrike" dirty="0">
              <a:solidFill>
                <a:srgbClr val="828282"/>
              </a:solidFill>
              <a:latin typeface="Pretendard Light"/>
              <a:ea typeface="Pretendard Light"/>
              <a:cs typeface="Pretendard Ligh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43584" y="2103120"/>
            <a:ext cx="107899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0" b="0">
                <a:solidFill>
                  <a:srgbClr val="14161B"/>
                </a:solidFill>
                <a:latin typeface="Pretendard ExtraBold"/>
                <a:ea typeface="Pretendard ExtraBold"/>
                <a:cs typeface="Pretendard ExtraBold"/>
              </a:rPr>
              <a:t>RoadPush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3584" y="352044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>
                <a:solidFill>
                  <a:srgbClr val="14161B"/>
                </a:solidFill>
                <a:latin typeface="Pretendard SemiBold"/>
                <a:ea typeface="Pretendard SemiBold"/>
                <a:cs typeface="Pretendard SemiBold"/>
              </a:rPr>
              <a:t>보행 영상 기반 보행공간 단절 위험도 자동 산출 시스템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43584" y="4343400"/>
            <a:ext cx="10607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0">
                <a:solidFill>
                  <a:srgbClr val="4F535B"/>
                </a:solidFill>
                <a:latin typeface="Pretendard"/>
                <a:ea typeface="Pretendard"/>
                <a:cs typeface="Pretendard"/>
              </a:rPr>
              <a:t>거리 사진만으로 ‘걷는 사람이 차도로 밀려나는(push) 구간’을 찾아, 도로 구간마다 위험도와 조치 우선순위를 보여 주는 지자체 보도 담당자용 AI</a:t>
            </a:r>
          </a:p>
        </p:txBody>
      </p:sp>
      <p:sp>
        <p:nvSpPr>
          <p:cNvPr id="10" name="밀려남 카드"/>
          <p:cNvSpPr/>
          <p:nvPr/>
        </p:nvSpPr>
        <p:spPr>
          <a:xfrm>
            <a:off x="1243584" y="5806440"/>
            <a:ext cx="10607040" cy="2514600"/>
          </a:xfrm>
          <a:prstGeom prst="roundRect">
            <a:avLst>
              <a:gd name="adj" fmla="val 8000"/>
            </a:avLst>
          </a:prstGeom>
          <a:solidFill>
            <a:srgbClr val="FCED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00784" y="5989320"/>
            <a:ext cx="5120640" cy="2103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00" b="0">
                <a:solidFill>
                  <a:srgbClr val="D6403A"/>
                </a:solidFill>
                <a:latin typeface="Pretendard ExtraBold"/>
                <a:ea typeface="Pretendard ExtraBold"/>
                <a:cs typeface="Pretendard ExtraBold"/>
              </a:rPr>
              <a:t>8.7</a:t>
            </a:r>
            <a:r>
              <a:rPr sz="4400" b="0">
                <a:solidFill>
                  <a:srgbClr val="D6403A"/>
                </a:solidFill>
                <a:latin typeface="Pretendard ExtraBold"/>
                <a:ea typeface="Pretendard ExtraBold"/>
                <a:cs typeface="Pretendard ExtraBold"/>
              </a:rPr>
              <a:t> km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21424" y="6126480"/>
            <a:ext cx="4754880" cy="1920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>
                <a:solidFill>
                  <a:srgbClr val="14161B"/>
                </a:solidFill>
                <a:latin typeface="Pretendard SemiBold"/>
                <a:ea typeface="Pretendard SemiBold"/>
                <a:cs typeface="Pretendard SemiBold"/>
              </a:rPr>
              <a:t>걷는 사람이 차도로 밀려나는 길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2100" b="0">
                <a:solidFill>
                  <a:srgbClr val="4F535B"/>
                </a:solidFill>
                <a:latin typeface="Pretendard"/>
                <a:ea typeface="Pretendard"/>
                <a:cs typeface="Pretendard"/>
              </a:rPr>
              <a:t>서울 도심 측정 28.3 km 중 31%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2100" b="0">
                <a:solidFill>
                  <a:srgbClr val="4F535B"/>
                </a:solidFill>
                <a:latin typeface="Pretendard"/>
                <a:ea typeface="Pretendard"/>
                <a:cs typeface="Pretendard"/>
              </a:rPr>
              <a:t>464개 도로 구간 중 164개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43584" y="8641080"/>
            <a:ext cx="5074920" cy="16002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63624" y="8823959"/>
            <a:ext cx="4617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0">
                <a:solidFill>
                  <a:srgbClr val="2A6FD6"/>
                </a:solidFill>
                <a:latin typeface="Pretendard ExtraBold"/>
                <a:ea typeface="Pretendard ExtraBold"/>
                <a:cs typeface="Pretendard ExtraBold"/>
              </a:rPr>
              <a:t>0.017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63624" y="9573767"/>
            <a:ext cx="4617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14161B"/>
                </a:solidFill>
                <a:latin typeface="Pretendard SemiBold"/>
                <a:ea typeface="Pretendard SemiBold"/>
                <a:cs typeface="Pretendard SemiBold"/>
              </a:rPr>
              <a:t>유효보행폭 비율 오차</a:t>
            </a:r>
            <a:r>
              <a:rPr sz="1600" b="0">
                <a:solidFill>
                  <a:srgbClr val="8A8E96"/>
                </a:solidFill>
                <a:latin typeface="Pretendard"/>
                <a:ea typeface="Pretendard"/>
                <a:cs typeface="Pretendard"/>
              </a:rPr>
              <a:t>  AI Hub 검증 954장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75704" y="8641080"/>
            <a:ext cx="5074920" cy="16002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95744" y="8823959"/>
            <a:ext cx="4617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0">
                <a:solidFill>
                  <a:srgbClr val="2A6FD6"/>
                </a:solidFill>
                <a:latin typeface="Pretendard ExtraBold"/>
                <a:ea typeface="Pretendard ExtraBold"/>
                <a:cs typeface="Pretendard ExtraBold"/>
              </a:rPr>
              <a:t>1/3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5744" y="9573767"/>
            <a:ext cx="4617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14161B"/>
                </a:solidFill>
                <a:latin typeface="Pretendard SemiBold"/>
                <a:ea typeface="Pretendard SemiBold"/>
                <a:cs typeface="Pretendard SemiBold"/>
              </a:rPr>
              <a:t>범용 AI(SAM 3) 대비 오차</a:t>
            </a:r>
            <a:r>
              <a:rPr sz="1600" b="0">
                <a:solidFill>
                  <a:srgbClr val="8A8E96"/>
                </a:solidFill>
                <a:latin typeface="Pretendard"/>
                <a:ea typeface="Pretendard"/>
                <a:cs typeface="Pretendard"/>
              </a:rPr>
              <a:t>  0.109 → 0.038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43584" y="10515600"/>
            <a:ext cx="5074920" cy="16002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63624" y="10698480"/>
            <a:ext cx="4617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0">
                <a:solidFill>
                  <a:srgbClr val="2A6FD6"/>
                </a:solidFill>
                <a:latin typeface="Pretendard ExtraBold"/>
                <a:ea typeface="Pretendard ExtraBold"/>
                <a:cs typeface="Pretendard ExtraBold"/>
              </a:rPr>
              <a:t>0.755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11448288"/>
            <a:ext cx="4617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14161B"/>
                </a:solidFill>
                <a:latin typeface="Pretendard SemiBold"/>
                <a:ea typeface="Pretendard SemiBold"/>
                <a:cs typeface="Pretendard SemiBold"/>
              </a:rPr>
              <a:t>장애물 인식 mIoU</a:t>
            </a:r>
            <a:r>
              <a:rPr sz="1600" b="0">
                <a:solidFill>
                  <a:srgbClr val="8A8E96"/>
                </a:solidFill>
                <a:latin typeface="Pretendard"/>
                <a:ea typeface="Pretendard"/>
                <a:cs typeface="Pretendard"/>
              </a:rPr>
              <a:t>  검증 1,566장 · 11종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75704" y="10515600"/>
            <a:ext cx="5074920" cy="16002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95744" y="10698480"/>
            <a:ext cx="4617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0">
                <a:solidFill>
                  <a:srgbClr val="2A6FD6"/>
                </a:solidFill>
                <a:latin typeface="Pretendard ExtraBold"/>
                <a:ea typeface="Pretendard ExtraBold"/>
                <a:cs typeface="Pretendard ExtraBold"/>
              </a:rPr>
              <a:t>서버 0대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95744" y="11448288"/>
            <a:ext cx="4617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14161B"/>
                </a:solidFill>
                <a:latin typeface="Pretendard SemiBold"/>
                <a:ea typeface="Pretendard SemiBold"/>
                <a:cs typeface="Pretendard SemiBold"/>
              </a:rPr>
              <a:t>브라우저 안에서 AI 실행</a:t>
            </a:r>
            <a:r>
              <a:rPr sz="1600" b="0">
                <a:solidFill>
                  <a:srgbClr val="8A8E96"/>
                </a:solidFill>
                <a:latin typeface="Pretendard"/>
                <a:ea typeface="Pretendard"/>
                <a:cs typeface="Pretendard"/>
              </a:rPr>
              <a:t>  설치 없이 웹 접속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43584" y="1243584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4161B"/>
                </a:solidFill>
                <a:latin typeface="Pretendard SemiBold"/>
                <a:ea typeface="Pretendard SemiBold"/>
                <a:cs typeface="Pretendard SemiBold"/>
              </a:rPr>
              <a:t>탐구참여인력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3621024" y="12362688"/>
          <a:ext cx="8229600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291840"/>
                <a:gridCol w="3474720"/>
              </a:tblGrid>
              <a:tr h="56692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161B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남윤상</a:t>
                      </a:r>
                    </a:p>
                  </a:txBody>
                  <a:tcPr marL="1371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16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연세대학교 건설환경공학과</a:t>
                      </a:r>
                    </a:p>
                  </a:txBody>
                  <a:tcPr marL="13716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16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기획·데이터·모델·웹앱 (1인)</a:t>
                      </a:r>
                    </a:p>
                  </a:txBody>
                  <a:tcPr marL="137160" anchor="ctr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pic>
        <p:nvPicPr>
          <p:cNvPr id="27" name="웹앱 지도" descr="web_map_wide_11.55x5.98_0.5_0.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73000" y="2148840"/>
            <a:ext cx="10561320" cy="547218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2573000" y="7730754"/>
            <a:ext cx="10561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4F535B"/>
                </a:solidFill>
                <a:latin typeface="Pretendard"/>
                <a:ea typeface="Pretendard"/>
                <a:cs typeface="Pretendard"/>
              </a:rPr>
              <a:t>웹앱 지도 — 서울 도심 464개 구간을 위험·주의·안전으로 표시</a:t>
            </a:r>
            <a:r>
              <a:rPr sz="1800" b="0">
                <a:solidFill>
                  <a:srgbClr val="2A6FD6"/>
                </a:solidFill>
                <a:latin typeface="Pretendard SemiBold"/>
                <a:ea typeface="Pretendard SemiBold"/>
                <a:cs typeface="Pretendard SemiBold"/>
              </a:rPr>
              <a:t>   huggingface.co/spaces/YunSangNam/roadpush</a:t>
            </a:r>
          </a:p>
        </p:txBody>
      </p:sp>
      <p:pic>
        <p:nvPicPr>
          <p:cNvPr id="29" name="링크 상세" descr="web_detail_5.58x3.90_0.5_0.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0" y="8641080"/>
            <a:ext cx="5097780" cy="3566160"/>
          </a:xfrm>
          <a:prstGeom prst="rect">
            <a:avLst/>
          </a:prstGeom>
        </p:spPr>
      </p:pic>
      <p:pic>
        <p:nvPicPr>
          <p:cNvPr id="30" name="사진 분석" descr="web_upload_5.58x3.90_0.5_0.3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36539" y="8641080"/>
            <a:ext cx="5097780" cy="356616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573000" y="12316967"/>
            <a:ext cx="50977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4F535B"/>
                </a:solidFill>
                <a:latin typeface="Pretendard"/>
                <a:ea typeface="Pretendard"/>
                <a:cs typeface="Pretendard"/>
              </a:rPr>
              <a:t>링크 상세 — 점수·단절 유형·AI 점검 메모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036539" y="12316967"/>
            <a:ext cx="50977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4F535B"/>
                </a:solidFill>
                <a:latin typeface="Pretendard"/>
                <a:ea typeface="Pretendard"/>
                <a:cs typeface="Pretendard"/>
              </a:rPr>
              <a:t>사진 분석 — 올린 사진을 브라우저에서 즉시 분할</a:t>
            </a:r>
          </a:p>
        </p:txBody>
      </p:sp>
    </p:spTree>
    <p:extLst>
      <p:ext uri="{BB962C8B-B14F-4D97-AF65-F5344CB8AC3E}">
        <p14:creationId xmlns:p14="http://schemas.microsoft.com/office/powerpoint/2010/main" val="4018155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DA9DA3A-148B-DB49-EBC3-9E5D49F390A8}"/>
              </a:ext>
            </a:extLst>
          </p:cNvPr>
          <p:cNvSpPr txBox="1"/>
          <p:nvPr/>
        </p:nvSpPr>
        <p:spPr>
          <a:xfrm>
            <a:off x="1244600" y="1054100"/>
            <a:ext cx="173736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3333" b="0" i="0" u="none" strike="noStrike" dirty="0">
                <a:solidFill>
                  <a:srgbClr val="4D9CFE"/>
                </a:solidFill>
                <a:latin typeface="Pretendard SemiBold"/>
                <a:ea typeface="Pretendard SemiBold"/>
                <a:cs typeface="Pretendard SemiBold"/>
              </a:rPr>
              <a:t>2. </a:t>
            </a:r>
            <a:r>
              <a:rPr lang="ko-KR" altLang="en-US" sz="3333" b="0" i="0" u="none" strike="noStrike" dirty="0">
                <a:solidFill>
                  <a:srgbClr val="4D9CFE"/>
                </a:solidFill>
                <a:latin typeface="Pretendard SemiBold"/>
                <a:ea typeface="Pretendard SemiBold"/>
                <a:cs typeface="Pretendard SemiBold"/>
              </a:rPr>
              <a:t>아이디어명 </a:t>
            </a:r>
            <a:r>
              <a:rPr lang="en-US" altLang="ko-KR" sz="3333" b="0" i="0" u="none" strike="noStrike" dirty="0">
                <a:solidFill>
                  <a:srgbClr val="4D9CFE"/>
                </a:solidFill>
                <a:latin typeface="Pretendard SemiBold"/>
                <a:ea typeface="Pretendard SemiBold"/>
                <a:cs typeface="Pretendard SemiBold"/>
              </a:rPr>
              <a:t>/ 3. </a:t>
            </a:r>
            <a:r>
              <a:rPr lang="ko-KR" altLang="en-US" sz="3333" b="0" i="0" u="none" strike="noStrike" dirty="0">
                <a:solidFill>
                  <a:srgbClr val="4D9CFE"/>
                </a:solidFill>
                <a:latin typeface="Pretendard SemiBold"/>
                <a:ea typeface="Pretendard SemiBold"/>
                <a:cs typeface="Pretendard SemiBold"/>
              </a:rPr>
              <a:t>기술요약</a:t>
            </a:r>
            <a:endParaRPr lang="en-US" altLang="ko-KR" sz="3333" b="0" i="0" u="none" strike="noStrike" dirty="0">
              <a:solidFill>
                <a:srgbClr val="4D9CFE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4" name="Picture 10">
            <a:extLst>
              <a:ext uri="{FF2B5EF4-FFF2-40B4-BE49-F238E27FC236}">
                <a16:creationId xmlns:a16="http://schemas.microsoft.com/office/drawing/2014/main" id="{CDACE552-8D4D-AFDD-E6F7-7E219873875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20497800" y="355600"/>
            <a:ext cx="3556000" cy="355600"/>
          </a:xfrm>
          <a:prstGeom prst="rect">
            <a:avLst/>
          </a:prstGeom>
        </p:spPr>
      </p:pic>
      <p:pic>
        <p:nvPicPr>
          <p:cNvPr id="5" name="Picture 11">
            <a:extLst>
              <a:ext uri="{FF2B5EF4-FFF2-40B4-BE49-F238E27FC236}">
                <a16:creationId xmlns:a16="http://schemas.microsoft.com/office/drawing/2014/main" id="{BA793571-349F-8EE6-DBF6-6BE6DF5E4B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7200" y="939800"/>
            <a:ext cx="4902200" cy="12700"/>
          </a:xfrm>
          <a:prstGeom prst="rect">
            <a:avLst/>
          </a:prstGeom>
        </p:spPr>
      </p:pic>
      <p:sp>
        <p:nvSpPr>
          <p:cNvPr id="6" name="TextBox 12">
            <a:extLst>
              <a:ext uri="{FF2B5EF4-FFF2-40B4-BE49-F238E27FC236}">
                <a16:creationId xmlns:a16="http://schemas.microsoft.com/office/drawing/2014/main" id="{F067BD04-7F88-DACD-4C3F-86612B0C4F13}"/>
              </a:ext>
            </a:extLst>
          </p:cNvPr>
          <p:cNvSpPr txBox="1"/>
          <p:nvPr/>
        </p:nvSpPr>
        <p:spPr>
          <a:xfrm>
            <a:off x="19697700" y="330200"/>
            <a:ext cx="7747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400" b="0" i="0" u="none" strike="noStrike" dirty="0">
                <a:solidFill>
                  <a:srgbClr val="828282"/>
                </a:solidFill>
                <a:latin typeface="Pretendard Light"/>
                <a:ea typeface="Pretendard Light"/>
                <a:cs typeface="Pretendard Light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43584" y="2103120"/>
            <a:ext cx="21890736" cy="1325880"/>
          </a:xfrm>
          <a:prstGeom prst="roundRect">
            <a:avLst>
              <a:gd name="adj" fmla="val 8000"/>
            </a:avLst>
          </a:prstGeom>
          <a:solidFill>
            <a:srgbClr val="EEF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09344" y="2212848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2A6FD6"/>
                </a:solidFill>
                <a:latin typeface="Pretendard SemiBold"/>
                <a:ea typeface="Pretendard SemiBold"/>
                <a:cs typeface="Pretendard SemiBold"/>
              </a:rPr>
              <a:t>2. 아이디어명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35424" y="2212848"/>
            <a:ext cx="1823313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14161B"/>
                </a:solidFill>
                <a:latin typeface="Pretendard ExtraBold"/>
                <a:ea typeface="Pretendard ExtraBold"/>
                <a:cs typeface="Pretendard ExtraBold"/>
              </a:rPr>
              <a:t>RoadPush — 보행공간 단절 위험도</a:t>
            </a:r>
            <a:r>
              <a:rPr sz="2000" b="0">
                <a:solidFill>
                  <a:srgbClr val="4F535B"/>
                </a:solidFill>
                <a:latin typeface="Pretendard"/>
                <a:ea typeface="Pretendard"/>
                <a:cs typeface="Pretendard"/>
              </a:rPr>
              <a:t>   2026 AI 라이프 아이디어 챌린지 수상 후보작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5424" y="2816352"/>
            <a:ext cx="182331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4F535B"/>
                </a:solidFill>
                <a:latin typeface="Pretendard"/>
                <a:ea typeface="Pretendard"/>
                <a:cs typeface="Pretendard"/>
              </a:rPr>
              <a:t>공공 도로·보행 영상을 AI로 분석해 보행공간 단절 위험도를 산출·시각화하고 사전 예방에 기여 (제안 취지)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43584" y="3749039"/>
            <a:ext cx="1280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14161B"/>
                </a:solidFill>
                <a:latin typeface="Pretendard SemiBold"/>
                <a:ea typeface="Pretendard SemiBold"/>
                <a:cs typeface="Pretendard SemiBold"/>
              </a:rPr>
              <a:t>문제 정의</a:t>
            </a:r>
            <a:r>
              <a:rPr sz="2000" b="0">
                <a:solidFill>
                  <a:srgbClr val="8A8E96"/>
                </a:solidFill>
                <a:latin typeface="Pretendard"/>
                <a:ea typeface="Pretendard"/>
                <a:cs typeface="Pretendard"/>
              </a:rPr>
              <a:t>   보도가 있어도 걸을 수 없는 길 — 사람은 차도로 밀려난다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43584" y="4389120"/>
            <a:ext cx="5129784" cy="48463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" name="보도가 끊긴다" descr="b_BL_5.61x3.55_0.5_0.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584" y="4389120"/>
            <a:ext cx="5129784" cy="3246120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1472184" y="4617720"/>
            <a:ext cx="594360" cy="594360"/>
          </a:xfrm>
          <a:prstGeom prst="ellipse">
            <a:avLst/>
          </a:prstGeom>
          <a:solidFill>
            <a:srgbClr val="D6403A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2400" b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7818119"/>
            <a:ext cx="467258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0">
                <a:solidFill>
                  <a:srgbClr val="14161B"/>
                </a:solidFill>
                <a:latin typeface="Pretendard SemiBold"/>
                <a:ea typeface="Pretendard SemiBold"/>
                <a:cs typeface="Pretendard SemiBold"/>
              </a:rPr>
              <a:t>보도가 끊긴다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7904" y="8348471"/>
            <a:ext cx="467258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4F535B"/>
                </a:solidFill>
                <a:latin typeface="Pretendard"/>
                <a:ea typeface="Pretendard"/>
                <a:cs typeface="Pretendard"/>
              </a:rPr>
              <a:t>보도가 사라져 사람·수레·차가
한 길을 나눠 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30568" y="4389120"/>
            <a:ext cx="5129784" cy="48463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차가 보도를 차지한다" descr="f_1_5.61x3.55_0.5_0.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0568" y="4389120"/>
            <a:ext cx="5129784" cy="3246120"/>
          </a:xfrm>
          <a:prstGeom prst="rect">
            <a:avLst/>
          </a:prstGeom>
        </p:spPr>
      </p:pic>
      <p:sp>
        <p:nvSpPr>
          <p:cNvPr id="19" name="Oval 18"/>
          <p:cNvSpPr/>
          <p:nvPr/>
        </p:nvSpPr>
        <p:spPr>
          <a:xfrm>
            <a:off x="7059168" y="4617720"/>
            <a:ext cx="594360" cy="594360"/>
          </a:xfrm>
          <a:prstGeom prst="ellipse">
            <a:avLst/>
          </a:prstGeom>
          <a:solidFill>
            <a:srgbClr val="D6403A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2400" b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04888" y="7818119"/>
            <a:ext cx="467258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0">
                <a:solidFill>
                  <a:srgbClr val="14161B"/>
                </a:solidFill>
                <a:latin typeface="Pretendard SemiBold"/>
                <a:ea typeface="Pretendard SemiBold"/>
                <a:cs typeface="Pretendard SemiBold"/>
              </a:rPr>
              <a:t>차가 보도를 차지한다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04888" y="8348471"/>
            <a:ext cx="467258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4F535B"/>
                </a:solidFill>
                <a:latin typeface="Pretendard"/>
                <a:ea typeface="Pretendard"/>
                <a:cs typeface="Pretendard"/>
              </a:rPr>
              <a:t>보도블록 위로 차가 드나들어
사람이 비켜서는 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417552" y="4389120"/>
            <a:ext cx="5129784" cy="48463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3" name="장애물이 길을 막는다" descr="b_TR_5.61x3.55_0.5_0.6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17552" y="4389120"/>
            <a:ext cx="5129784" cy="3246120"/>
          </a:xfrm>
          <a:prstGeom prst="rect">
            <a:avLst/>
          </a:prstGeom>
        </p:spPr>
      </p:pic>
      <p:sp>
        <p:nvSpPr>
          <p:cNvPr id="24" name="Oval 23"/>
          <p:cNvSpPr/>
          <p:nvPr/>
        </p:nvSpPr>
        <p:spPr>
          <a:xfrm>
            <a:off x="12646152" y="4617720"/>
            <a:ext cx="594360" cy="594360"/>
          </a:xfrm>
          <a:prstGeom prst="ellipse">
            <a:avLst/>
          </a:prstGeom>
          <a:solidFill>
            <a:srgbClr val="D6403A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2400" b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691872" y="7818119"/>
            <a:ext cx="467258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0">
                <a:solidFill>
                  <a:srgbClr val="14161B"/>
                </a:solidFill>
                <a:latin typeface="Pretendard SemiBold"/>
                <a:ea typeface="Pretendard SemiBold"/>
                <a:cs typeface="Pretendard SemiBold"/>
              </a:rPr>
              <a:t>장애물이 길을 막는다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691872" y="8348471"/>
            <a:ext cx="467258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4F535B"/>
                </a:solidFill>
                <a:latin typeface="Pretendard"/>
                <a:ea typeface="Pretendard"/>
                <a:cs typeface="Pretendard"/>
              </a:rPr>
              <a:t>입간판·적치물로 지나갈 폭이
원래의 30% 미만</a:t>
            </a:r>
          </a:p>
        </p:txBody>
      </p:sp>
      <p:sp>
        <p:nvSpPr>
          <p:cNvPr id="27" name="현재 점검 방식"/>
          <p:cNvSpPr/>
          <p:nvPr/>
        </p:nvSpPr>
        <p:spPr>
          <a:xfrm>
            <a:off x="18004536" y="4389120"/>
            <a:ext cx="5129784" cy="4846320"/>
          </a:xfrm>
          <a:prstGeom prst="roundRect">
            <a:avLst>
              <a:gd name="adj" fmla="val 8000"/>
            </a:avLst>
          </a:prstGeom>
          <a:solidFill>
            <a:srgbClr val="141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416016" y="4800600"/>
            <a:ext cx="4306824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9FC4FF"/>
                </a:solidFill>
                <a:latin typeface="Pretendard SemiBold"/>
                <a:ea typeface="Pretendard SemiBold"/>
                <a:cs typeface="Pretendard SemiBold"/>
              </a:rPr>
              <a:t>지금의 점검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3000" b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민원·순찰에 의존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1900" b="0">
                <a:solidFill>
                  <a:srgbClr val="D5D8DE"/>
                </a:solidFill>
                <a:latin typeface="Pretendard"/>
                <a:ea typeface="Pretendard"/>
                <a:cs typeface="Pretendard"/>
              </a:rPr>
              <a:t>사람이 걸으며 눈으로 확인 — 구간끼리 비교할 정량 지표가 없다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2000" b="0">
                <a:solidFill>
                  <a:srgbClr val="9FC4FF"/>
                </a:solidFill>
                <a:latin typeface="Pretendard SemiBold"/>
                <a:ea typeface="Pretendard SemiBold"/>
                <a:cs typeface="Pretendard SemiBold"/>
              </a:rPr>
              <a:t>핵심 질문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24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“어느 도로 구간부터 단속·정비해야 하는가?”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43584" y="9555480"/>
            <a:ext cx="1280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14161B"/>
                </a:solidFill>
                <a:latin typeface="Pretendard SemiBold"/>
                <a:ea typeface="Pretendard SemiBold"/>
                <a:cs typeface="Pretendard SemiBold"/>
              </a:rPr>
              <a:t>3. 기술요약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43584" y="10195560"/>
            <a:ext cx="6992112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2E5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563624" y="10515600"/>
            <a:ext cx="640080" cy="640080"/>
          </a:xfrm>
          <a:prstGeom prst="ellipse">
            <a:avLst/>
          </a:prstGeom>
          <a:solidFill>
            <a:srgbClr val="2A6FD6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2400" b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32304" y="10543032"/>
            <a:ext cx="552907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>
                <a:solidFill>
                  <a:srgbClr val="14161B"/>
                </a:solidFill>
                <a:latin typeface="Pretendard SemiBold"/>
                <a:ea typeface="Pretendard SemiBold"/>
                <a:cs typeface="Pretendard SemiBold"/>
              </a:rPr>
              <a:t>분할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63624" y="11338560"/>
            <a:ext cx="635203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>
                <a:solidFill>
                  <a:srgbClr val="4F535B"/>
                </a:solidFill>
                <a:latin typeface="Pretendard"/>
                <a:ea typeface="Pretendard"/>
                <a:cs typeface="Pretendard"/>
              </a:rPr>
              <a:t>거리 사진을 경량 분할 모델(RF-DETR-Seg, Apache 2.0)로 보도면 9종·장애물 11종으로 픽셀 단위 구분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63624" y="12664440"/>
            <a:ext cx="635203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2A6FD6"/>
                </a:solidFill>
                <a:latin typeface="Pretendard SemiBold"/>
                <a:ea typeface="Pretendard SemiBold"/>
                <a:cs typeface="Pretendard SemiBold"/>
              </a:rPr>
              <a:t>장애물 mIoU 0.755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299704" y="11704320"/>
            <a:ext cx="329184" cy="0"/>
          </a:xfrm>
          <a:prstGeom prst="line">
            <a:avLst/>
          </a:prstGeom>
          <a:ln w="38100">
            <a:solidFill>
              <a:srgbClr val="4D9CF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8692896" y="10195560"/>
            <a:ext cx="6992112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2E5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012936" y="10515600"/>
            <a:ext cx="640080" cy="640080"/>
          </a:xfrm>
          <a:prstGeom prst="ellipse">
            <a:avLst/>
          </a:prstGeom>
          <a:solidFill>
            <a:srgbClr val="2A6FD6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2400" b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81616" y="10543032"/>
            <a:ext cx="552907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>
                <a:solidFill>
                  <a:srgbClr val="14161B"/>
                </a:solidFill>
                <a:latin typeface="Pretendard SemiBold"/>
                <a:ea typeface="Pretendard SemiBold"/>
                <a:cs typeface="Pretendard SemiBold"/>
              </a:rPr>
              <a:t>측정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12936" y="11338560"/>
            <a:ext cx="635203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>
                <a:solidFill>
                  <a:srgbClr val="4F535B"/>
                </a:solidFill>
                <a:latin typeface="Pretendard"/>
                <a:ea typeface="Pretendard"/>
                <a:cs typeface="Pretendard"/>
              </a:rPr>
              <a:t>가로줄마다 ‘지나갈 수 있는 폭 ÷ 원래 보도 폭’(유효보행폭 비율)의 병목을 재고 보도 소멸·폭 협소·보차 혼용 등을 판정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12936" y="12664440"/>
            <a:ext cx="635203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2A6FD6"/>
                </a:solidFill>
                <a:latin typeface="Pretendard SemiBold"/>
                <a:ea typeface="Pretendard SemiBold"/>
                <a:cs typeface="Pretendard SemiBold"/>
              </a:rPr>
              <a:t>비율 오차 0.017 · 소멸 F1 0.915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5749016" y="11704320"/>
            <a:ext cx="329184" cy="0"/>
          </a:xfrm>
          <a:prstGeom prst="line">
            <a:avLst/>
          </a:prstGeom>
          <a:ln w="38100">
            <a:solidFill>
              <a:srgbClr val="4D9CF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16142208" y="10195560"/>
            <a:ext cx="6992112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2E5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6462248" y="10515600"/>
            <a:ext cx="640080" cy="640080"/>
          </a:xfrm>
          <a:prstGeom prst="ellipse">
            <a:avLst/>
          </a:prstGeom>
          <a:solidFill>
            <a:srgbClr val="2A6FD6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2400" b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330928" y="10543032"/>
            <a:ext cx="552907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>
                <a:solidFill>
                  <a:srgbClr val="14161B"/>
                </a:solidFill>
                <a:latin typeface="Pretendard SemiBold"/>
                <a:ea typeface="Pretendard SemiBold"/>
                <a:cs typeface="Pretendard SemiBold"/>
              </a:rPr>
              <a:t>우선순위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462248" y="11338560"/>
            <a:ext cx="635203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>
                <a:solidFill>
                  <a:srgbClr val="4F535B"/>
                </a:solidFill>
                <a:latin typeface="Pretendard"/>
                <a:ea typeface="Pretendard"/>
                <a:cs typeface="Pretendard"/>
              </a:rPr>
              <a:t>GPS로 도로 구간(링크)에 모아 0~100점 위험도와 AI 점검 메모를 만들고, 서버 없는 지도 웹앱으로 담당자에게 제공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62248" y="12664440"/>
            <a:ext cx="635203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2A6FD6"/>
                </a:solidFill>
                <a:latin typeface="Pretendard SemiBold"/>
                <a:ea typeface="Pretendard SemiBold"/>
                <a:cs typeface="Pretendard SemiBold"/>
              </a:rPr>
              <a:t>464개 구간 · 브라우저 실행</a:t>
            </a:r>
          </a:p>
        </p:txBody>
      </p:sp>
    </p:spTree>
    <p:extLst>
      <p:ext uri="{BB962C8B-B14F-4D97-AF65-F5344CB8AC3E}">
        <p14:creationId xmlns:p14="http://schemas.microsoft.com/office/powerpoint/2010/main" val="3858763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/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20497800" y="355600"/>
            <a:ext cx="3556000" cy="355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7200" y="939800"/>
            <a:ext cx="4902200" cy="127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9697700" y="330200"/>
            <a:ext cx="7747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400" b="0" i="0" u="none" strike="noStrike" dirty="0">
                <a:solidFill>
                  <a:srgbClr val="828282"/>
                </a:solidFill>
                <a:latin typeface="Pretendard Light"/>
                <a:ea typeface="Pretendard Light"/>
                <a:cs typeface="Pretendard Light"/>
              </a:rPr>
              <a:t>3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3A7203F7-93C5-AA6F-8D40-3E7FF5C74839}"/>
              </a:ext>
            </a:extLst>
          </p:cNvPr>
          <p:cNvSpPr txBox="1"/>
          <p:nvPr/>
        </p:nvSpPr>
        <p:spPr>
          <a:xfrm>
            <a:off x="1244600" y="1054100"/>
            <a:ext cx="173736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3333" b="0" i="0" u="none" strike="noStrike" dirty="0">
                <a:solidFill>
                  <a:srgbClr val="4D9CFE"/>
                </a:solidFill>
                <a:latin typeface="Pretendard SemiBold"/>
                <a:ea typeface="Pretendard SemiBold"/>
                <a:cs typeface="Pretendard SemiBold"/>
              </a:rPr>
              <a:t>4. 최종목표 / 5. 개발 내용 및 결과 ① AI 접근방법</a:t>
            </a:r>
            <a:r>
              <a:rPr lang="ko-KR" altLang="en-US" sz="3333" dirty="0">
                <a:solidFill>
                  <a:srgbClr val="4D9CFE"/>
                </a:solidFill>
                <a:latin typeface="Pretendard SemiBold"/>
                <a:ea typeface="Pretendard SemiBold"/>
                <a:cs typeface="Pretendard SemiBold"/>
              </a:rPr>
              <a:t/>
            </a:r>
            <a:r>
              <a:rPr lang="ko-KR" altLang="en-US" sz="3333" b="0" i="0" u="none" strike="noStrike" dirty="0">
                <a:solidFill>
                  <a:srgbClr val="4D9CFE"/>
                </a:solidFill>
                <a:latin typeface="Pretendard SemiBold"/>
                <a:ea typeface="Pretendard SemiBold"/>
                <a:cs typeface="Pretendard SemiBold"/>
              </a:rPr>
              <a:t/>
            </a:r>
            <a:r>
              <a:rPr lang="en-US" altLang="ko-KR" sz="3333" b="0" i="0" u="none" strike="noStrike" dirty="0">
                <a:solidFill>
                  <a:srgbClr val="4D9CFE"/>
                </a:solidFill>
                <a:latin typeface="Pretendard SemiBold"/>
                <a:ea typeface="Pretendard SemiBold"/>
                <a:cs typeface="Pretendard SemiBold"/>
              </a:rPr>
              <a:t/>
            </a:r>
            <a:r>
              <a:rPr lang="ko-KR" altLang="en-US" sz="3333" dirty="0">
                <a:solidFill>
                  <a:srgbClr val="4D9CFE"/>
                </a:solidFill>
                <a:latin typeface="Pretendard SemiBold"/>
                <a:ea typeface="Pretendard SemiBold"/>
                <a:cs typeface="Pretendard SemiBold"/>
              </a:rPr>
              <a:t/>
            </a:r>
            <a:endParaRPr lang="en-US" altLang="ko-KR" sz="3333" b="0" i="0" u="none" strike="noStrike" dirty="0">
              <a:solidFill>
                <a:srgbClr val="4D9CFE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243584" y="2103120"/>
            <a:ext cx="21890736" cy="1371600"/>
          </a:xfrm>
          <a:prstGeom prst="roundRect">
            <a:avLst>
              <a:gd name="adj" fmla="val 8000"/>
            </a:avLst>
          </a:prstGeom>
          <a:solidFill>
            <a:srgbClr val="EEF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09344" y="224028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2A6FD6"/>
                </a:solidFill>
                <a:latin typeface="Pretendard SemiBold"/>
                <a:ea typeface="Pretendard SemiBold"/>
                <a:cs typeface="Pretendard SemiBold"/>
              </a:rPr>
              <a:t>4. 최종목표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52544" y="2240280"/>
            <a:ext cx="18416016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0">
                <a:solidFill>
                  <a:srgbClr val="2A6FD6"/>
                </a:solidFill>
                <a:latin typeface="Pretendard SemiBold"/>
                <a:ea typeface="Pretendard SemiBold"/>
                <a:cs typeface="Pretendard SemiBold"/>
              </a:rPr>
              <a:t>① </a:t>
            </a:r>
            <a:r>
              <a:rPr sz="2100" b="0">
                <a:solidFill>
                  <a:srgbClr val="14161B"/>
                </a:solidFill>
                <a:latin typeface="Pretendard"/>
                <a:ea typeface="Pretendard"/>
                <a:cs typeface="Pretendard"/>
              </a:rPr>
              <a:t>걸으며 눈으로 하던 보도 점검을, 거리 사진만으로 도로 구간 단위 정량 지표(유효보행폭 비율·단절 유형·위험도)로 바꾼다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2100" b="0">
                <a:solidFill>
                  <a:srgbClr val="2A6FD6"/>
                </a:solidFill>
                <a:latin typeface="Pretendard SemiBold"/>
                <a:ea typeface="Pretendard SemiBold"/>
                <a:cs typeface="Pretendard SemiBold"/>
              </a:rPr>
              <a:t>② </a:t>
            </a:r>
            <a:r>
              <a:rPr sz="2100" b="0">
                <a:solidFill>
                  <a:srgbClr val="14161B"/>
                </a:solidFill>
                <a:latin typeface="Pretendard"/>
                <a:ea typeface="Pretendard"/>
                <a:cs typeface="Pretendard"/>
              </a:rPr>
              <a:t>서울 도심 실제 사진으로 ‘차도로 밀려나는 구간’과 조치 우선순위를 자동 산출하고, 누구나 쓰는 웹앱으로 공개한다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43584" y="4023360"/>
            <a:ext cx="18288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14161B"/>
                </a:solidFill>
                <a:latin typeface="Pretendard SemiBold"/>
                <a:ea typeface="Pretendard SemiBold"/>
                <a:cs typeface="Pretendard SemiBold"/>
              </a:rPr>
              <a:t>5. 개발 내용 및 결과 — AI 접근방법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43584" y="4663440"/>
            <a:ext cx="3975811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2E5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17904" y="4892040"/>
            <a:ext cx="342717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14161B"/>
                </a:solidFill>
                <a:latin typeface="Pretendard SemiBold"/>
                <a:ea typeface="Pretendard SemiBold"/>
                <a:cs typeface="Pretendard SemiBold"/>
              </a:rPr>
              <a:t>거리 사진 + GPS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17904" y="5468112"/>
            <a:ext cx="342717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4F535B"/>
                </a:solidFill>
                <a:latin typeface="Pretendard"/>
                <a:ea typeface="Pretendard"/>
                <a:cs typeface="Pretendard"/>
              </a:rPr>
              <a:t>폰 촬영·공개 거리 사진
360° 사진은 진행 방향 변환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283403" y="5554979"/>
            <a:ext cx="374904" cy="0"/>
          </a:xfrm>
          <a:prstGeom prst="line">
            <a:avLst/>
          </a:prstGeom>
          <a:ln w="38100">
            <a:solidFill>
              <a:srgbClr val="4D9CF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722315" y="4663440"/>
            <a:ext cx="3975811" cy="1783080"/>
          </a:xfrm>
          <a:prstGeom prst="roundRect">
            <a:avLst>
              <a:gd name="adj" fmla="val 8000"/>
            </a:avLst>
          </a:prstGeom>
          <a:solidFill>
            <a:srgbClr val="2A6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96635" y="4892040"/>
            <a:ext cx="342717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RF-DETR-Seg 분할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96635" y="5468112"/>
            <a:ext cx="342717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DCE8FF"/>
                </a:solidFill>
                <a:latin typeface="Pretendard"/>
                <a:ea typeface="Pretendard"/>
                <a:cs typeface="Pretendard"/>
              </a:rPr>
              <a:t>보도면 9종 · 장애물 11종
픽셀 단위 마스크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762134" y="5554979"/>
            <a:ext cx="374904" cy="0"/>
          </a:xfrm>
          <a:prstGeom prst="line">
            <a:avLst/>
          </a:prstGeom>
          <a:ln w="38100">
            <a:solidFill>
              <a:srgbClr val="4D9CF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0201046" y="4663440"/>
            <a:ext cx="3975811" cy="1783080"/>
          </a:xfrm>
          <a:prstGeom prst="roundRect">
            <a:avLst>
              <a:gd name="adj" fmla="val 8000"/>
            </a:avLst>
          </a:prstGeom>
          <a:solidFill>
            <a:srgbClr val="2A6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475366" y="4892040"/>
            <a:ext cx="342717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유효보행폭 비율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75366" y="5468112"/>
            <a:ext cx="342717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DCE8FF"/>
                </a:solidFill>
                <a:latin typeface="Pretendard"/>
                <a:ea typeface="Pretendard"/>
                <a:cs typeface="Pretendard"/>
              </a:rPr>
              <a:t>지나갈 폭 ÷ 원래 보도 폭
가장 좁은 곳(병목)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4240865" y="5554979"/>
            <a:ext cx="374904" cy="0"/>
          </a:xfrm>
          <a:prstGeom prst="line">
            <a:avLst/>
          </a:prstGeom>
          <a:ln w="38100">
            <a:solidFill>
              <a:srgbClr val="4D9CF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4679777" y="4663440"/>
            <a:ext cx="3975811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2E5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954097" y="4892040"/>
            <a:ext cx="342717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14161B"/>
                </a:solidFill>
                <a:latin typeface="Pretendard SemiBold"/>
                <a:ea typeface="Pretendard SemiBold"/>
                <a:cs typeface="Pretendard SemiBold"/>
              </a:rPr>
              <a:t>구간 위험도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954097" y="5468112"/>
            <a:ext cx="342717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4F535B"/>
                </a:solidFill>
                <a:latin typeface="Pretendard"/>
                <a:ea typeface="Pretendard"/>
                <a:cs typeface="Pretendard"/>
              </a:rPr>
              <a:t>0~100점 · 단절 유형
보차 혼용 · 휠체어 기준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8719596" y="5554979"/>
            <a:ext cx="374904" cy="0"/>
          </a:xfrm>
          <a:prstGeom prst="line">
            <a:avLst/>
          </a:prstGeom>
          <a:ln w="38100">
            <a:solidFill>
              <a:srgbClr val="4D9CF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9158508" y="4663440"/>
            <a:ext cx="3975811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2E5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432828" y="4892040"/>
            <a:ext cx="342717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14161B"/>
                </a:solidFill>
                <a:latin typeface="Pretendard SemiBold"/>
                <a:ea typeface="Pretendard SemiBold"/>
                <a:cs typeface="Pretendard SemiBold"/>
              </a:rPr>
              <a:t>담당자 웹앱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432828" y="5468112"/>
            <a:ext cx="342717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4F535B"/>
                </a:solidFill>
                <a:latin typeface="Pretendard"/>
                <a:ea typeface="Pretendard"/>
                <a:cs typeface="Pretendard"/>
              </a:rPr>
              <a:t>지도 · 조치 우선순위
AI 점검 메모</a:t>
            </a:r>
          </a:p>
        </p:txBody>
      </p:sp>
      <p:pic>
        <p:nvPicPr>
          <p:cNvPr id="36" name="원본과 AI 분할" descr="fig_masks_14.60x5.97_0.5_0.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584" y="6858000"/>
            <a:ext cx="13350240" cy="5457193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243584" y="12406633"/>
            <a:ext cx="13350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4F535B"/>
                </a:solidFill>
                <a:latin typeface="Pretendard"/>
                <a:ea typeface="Pretendard"/>
                <a:cs typeface="Pretendard"/>
              </a:rPr>
              <a:t>원본(위)과 AI 분할(아래) — 초록 보도 · 노랑 점자블록 · 갈색 골목 · 빨강 장애물 · 연보라 보행자</a:t>
            </a:r>
          </a:p>
        </p:txBody>
      </p:sp>
      <p:sp>
        <p:nvSpPr>
          <p:cNvPr id="38" name="비율 정의"/>
          <p:cNvSpPr/>
          <p:nvPr/>
        </p:nvSpPr>
        <p:spPr>
          <a:xfrm>
            <a:off x="15096743" y="6858000"/>
            <a:ext cx="8037576" cy="589788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462503" y="7040880"/>
            <a:ext cx="730605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14161B"/>
                </a:solidFill>
                <a:latin typeface="Pretendard SemiBold"/>
                <a:ea typeface="Pretendard SemiBold"/>
                <a:cs typeface="Pretendard SemiBold"/>
              </a:rPr>
              <a:t>유효보행폭 비율</a:t>
            </a:r>
            <a:r>
              <a:rPr sz="1700" b="0">
                <a:solidFill>
                  <a:srgbClr val="8A8E96"/>
                </a:solidFill>
                <a:latin typeface="Pretendard"/>
                <a:ea typeface="Pretendard"/>
                <a:cs typeface="Pretendard"/>
              </a:rPr>
              <a:t>  가로줄마다 측정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5462503" y="7772400"/>
            <a:ext cx="7306056" cy="685800"/>
          </a:xfrm>
          <a:prstGeom prst="roundRect">
            <a:avLst>
              <a:gd name="adj" fmla="val 15000"/>
            </a:avLst>
          </a:prstGeom>
          <a:solidFill>
            <a:srgbClr val="BFE3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9992258" y="7772400"/>
            <a:ext cx="2776301" cy="685800"/>
          </a:xfrm>
          <a:prstGeom prst="roundRect">
            <a:avLst>
              <a:gd name="adj" fmla="val 15000"/>
            </a:avLst>
          </a:prstGeom>
          <a:solidFill>
            <a:srgbClr val="D640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9992258" y="7772400"/>
            <a:ext cx="2776301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장애물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599663" y="7772400"/>
            <a:ext cx="3653028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D6B35"/>
                </a:solidFill>
                <a:latin typeface="Pretendard SemiBold"/>
                <a:ea typeface="Pretendard SemiBold"/>
                <a:cs typeface="Pretendard SemiBold"/>
              </a:rPr>
              <a:t>지나갈 수 있는 폭  w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5462503" y="8686800"/>
            <a:ext cx="7306057" cy="0"/>
          </a:xfrm>
          <a:prstGeom prst="line">
            <a:avLst/>
          </a:prstGeom>
          <a:ln w="25400">
            <a:solidFill>
              <a:srgbClr val="4F53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5462503" y="8759952"/>
            <a:ext cx="73060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4F535B"/>
                </a:solidFill>
                <a:latin typeface="Pretendard"/>
                <a:ea typeface="Pretendard"/>
                <a:cs typeface="Pretendard"/>
              </a:rPr>
              <a:t>원래 보도 폭  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462503" y="9281160"/>
            <a:ext cx="73060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>
                <a:solidFill>
                  <a:srgbClr val="2A6FD6"/>
                </a:solidFill>
                <a:latin typeface="Pretendard ExtraBold"/>
                <a:ea typeface="Pretendard ExtraBold"/>
                <a:cs typeface="Pretendard ExtraBold"/>
              </a:rPr>
              <a:t>비율 = w ÷ W</a:t>
            </a:r>
            <a:r>
              <a:rPr sz="1600" b="0">
                <a:solidFill>
                  <a:srgbClr val="4F535B"/>
                </a:solidFill>
                <a:latin typeface="Pretendard"/>
                <a:ea typeface="Pretendard"/>
                <a:cs typeface="Pretendard"/>
              </a:rPr>
              <a:t>   가장 좁은 줄(병목)이 사진의 값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462503" y="9966960"/>
            <a:ext cx="7306056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4161B"/>
                </a:solidFill>
                <a:latin typeface="Pretendard"/>
                <a:ea typeface="Pretendard"/>
                <a:cs typeface="Pretendard"/>
              </a:rPr>
              <a:t>· 보행자는 장애물에서 제외 (조치 대상 아님)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700" b="0">
                <a:solidFill>
                  <a:srgbClr val="14161B"/>
                </a:solidFill>
                <a:latin typeface="Pretendard"/>
                <a:ea typeface="Pretendard"/>
                <a:cs typeface="Pretendard"/>
              </a:rPr>
              <a:t>· 바닥이 안 보이는 사진은 ‘측정 불가’로 제외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700" b="0">
                <a:solidFill>
                  <a:srgbClr val="14161B"/>
                </a:solidFill>
                <a:latin typeface="Pretendard"/>
                <a:ea typeface="Pretendard"/>
                <a:cs typeface="Pretendard"/>
              </a:rPr>
              <a:t>· 밀려남: 보도 소멸 · 보행 공간 위 차량 · 비율 &lt; 0.3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700" b="0">
                <a:solidFill>
                  <a:srgbClr val="14161B"/>
                </a:solidFill>
                <a:latin typeface="Pretendard"/>
                <a:ea typeface="Pretendard"/>
                <a:cs typeface="Pretendard"/>
              </a:rPr>
              <a:t>· 휠체어 기준: 통과 비율 0.7 · 단차 가중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700" b="0">
                <a:solidFill>
                  <a:srgbClr val="14161B"/>
                </a:solidFill>
                <a:latin typeface="Pretendard"/>
                <a:ea typeface="Pretendard"/>
                <a:cs typeface="Pretendard"/>
              </a:rPr>
              <a:t>· 원근 때문에 m 대신 비율 (1.2 m는 보조 지표)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43584" y="12847320"/>
            <a:ext cx="2189073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2A6FD6"/>
                </a:solidFill>
                <a:latin typeface="Pretendard SemiBold"/>
                <a:ea typeface="Pretendard SemiBold"/>
                <a:cs typeface="Pretendard SemiBold"/>
              </a:rPr>
              <a:t>학습</a:t>
            </a:r>
            <a:r>
              <a:rPr sz="1600" b="0">
                <a:solidFill>
                  <a:srgbClr val="4F535B"/>
                </a:solidFill>
                <a:latin typeface="Pretendard"/>
                <a:ea typeface="Pretendard"/>
                <a:cs typeface="Pretendard"/>
              </a:rPr>
              <a:t>  RTX 3090 · AI Hub 인도보행 영상(보도면 9.6천 장 · 장애물 2.4만 장) · SAM 3·Grounding DINO는 비교·라벨링 teacher로만</a:t>
            </a:r>
            <a:r>
              <a:rPr sz="1600" b="0">
                <a:solidFill>
                  <a:srgbClr val="2A6FD6"/>
                </a:solidFill>
                <a:latin typeface="Pretendard SemiBold"/>
                <a:ea typeface="Pretendard SemiBold"/>
                <a:cs typeface="Pretendard SemiBold"/>
              </a:rPr>
              <a:t>     운영</a:t>
            </a:r>
            <a:r>
              <a:rPr sz="1600" b="0">
                <a:solidFill>
                  <a:srgbClr val="4F535B"/>
                </a:solidFill>
                <a:latin typeface="Pretendard"/>
                <a:ea typeface="Pretendard"/>
                <a:cs typeface="Pretendard"/>
              </a:rPr>
              <a:t>  ONNX로 브라우저 추론 · Qwen3-VL-8B 점검 메모</a:t>
            </a:r>
          </a:p>
        </p:txBody>
      </p:sp>
    </p:spTree>
    <p:extLst>
      <p:ext uri="{BB962C8B-B14F-4D97-AF65-F5344CB8AC3E}">
        <p14:creationId xmlns:p14="http://schemas.microsoft.com/office/powerpoint/2010/main" val="1288470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/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20497800" y="355600"/>
            <a:ext cx="3556000" cy="355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7200" y="939800"/>
            <a:ext cx="4902200" cy="127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9697700" y="330200"/>
            <a:ext cx="7747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400" dirty="0">
                <a:solidFill>
                  <a:srgbClr val="828282"/>
                </a:solidFill>
                <a:latin typeface="Pretendard Light"/>
                <a:ea typeface="Pretendard Light"/>
                <a:cs typeface="Pretendard Light"/>
              </a:rPr>
              <a:t>4</a:t>
            </a:r>
            <a:endParaRPr lang="en-US" sz="2400" b="0" i="0" u="none" strike="noStrike" dirty="0">
              <a:solidFill>
                <a:srgbClr val="828282"/>
              </a:solidFill>
              <a:latin typeface="Pretendard Light"/>
              <a:ea typeface="Pretendard Light"/>
              <a:cs typeface="Pretendard Ligh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F65BB0-A33B-3E2C-1318-4F98BB3BB4EA}"/>
              </a:ext>
            </a:extLst>
          </p:cNvPr>
          <p:cNvSpPr txBox="1"/>
          <p:nvPr/>
        </p:nvSpPr>
        <p:spPr>
          <a:xfrm>
            <a:off x="1244600" y="1054100"/>
            <a:ext cx="173736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3333" b="0" i="0" u="none" strike="noStrike" dirty="0">
                <a:solidFill>
                  <a:srgbClr val="4D9CFE"/>
                </a:solidFill>
                <a:latin typeface="Pretendard SemiBold"/>
                <a:ea typeface="Pretendard SemiBold"/>
                <a:cs typeface="Pretendard SemiBold"/>
              </a:rPr>
              <a:t>5. 개발 내용 및 결과 ② 결과 해석</a:t>
            </a:r>
            <a:r>
              <a:rPr lang="ko-KR" altLang="en-US" sz="3333" b="0" i="0" u="none" strike="noStrike" dirty="0">
                <a:solidFill>
                  <a:srgbClr val="4D9CFE"/>
                </a:solidFill>
                <a:latin typeface="Pretendard SemiBold"/>
                <a:ea typeface="Pretendard SemiBold"/>
                <a:cs typeface="Pretendard SemiBold"/>
              </a:rPr>
              <a:t/>
            </a:r>
            <a:r>
              <a:rPr lang="en-US" altLang="ko-KR" sz="3333" b="0" i="0" u="none" strike="noStrike" dirty="0">
                <a:solidFill>
                  <a:srgbClr val="4D9CFE"/>
                </a:solidFill>
                <a:latin typeface="Pretendard SemiBold"/>
                <a:ea typeface="Pretendard SemiBold"/>
                <a:cs typeface="Pretendard SemiBold"/>
              </a:rPr>
              <a:t/>
            </a:r>
            <a:r>
              <a:rPr lang="ko-KR" altLang="en-US" sz="3333" b="0" i="0" u="none" strike="noStrike" dirty="0">
                <a:solidFill>
                  <a:srgbClr val="4D9CFE"/>
                </a:solidFill>
                <a:latin typeface="Pretendard SemiBold"/>
                <a:ea typeface="Pretendard SemiBold"/>
                <a:cs typeface="Pretendard SemiBold"/>
              </a:rPr>
              <a:t/>
            </a:r>
            <a:endParaRPr lang="en-US" altLang="ko-KR" sz="3333" b="0" i="0" u="none" strike="noStrike" dirty="0">
              <a:solidFill>
                <a:srgbClr val="4D9CFE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243584" y="2103120"/>
            <a:ext cx="11338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14161B"/>
                </a:solidFill>
                <a:latin typeface="Pretendard SemiBold"/>
                <a:ea typeface="Pretendard SemiBold"/>
                <a:cs typeface="Pretendard SemiBold"/>
              </a:rPr>
              <a:t>모델 성능</a:t>
            </a:r>
            <a:r>
              <a:rPr sz="2000" b="0">
                <a:solidFill>
                  <a:srgbClr val="8A8E96"/>
                </a:solidFill>
                <a:latin typeface="Pretendard"/>
                <a:ea typeface="Pretendard"/>
                <a:cs typeface="Pretendard"/>
              </a:rPr>
              <a:t>   AI Hub 검증셋 · 촬영 폴더 단위로 학습과 분리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1243584" y="2697480"/>
          <a:ext cx="5486400" cy="466344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7095744" y="2697480"/>
          <a:ext cx="5486400" cy="466344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1243584" y="740664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8A8E96"/>
                </a:solidFill>
                <a:latin typeface="Pretendard"/>
                <a:ea typeface="Pretendard"/>
                <a:cs typeface="Pretendard"/>
              </a:rPr>
              <a:t>같은 검증 사진 150장 · 같은 클래스 기준 비교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243584" y="7955279"/>
          <a:ext cx="1133856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1645920"/>
                <a:gridCol w="5486400"/>
              </a:tblGrid>
              <a:tr h="530352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161B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지표 (검증셋 전체)</a:t>
                      </a:r>
                    </a:p>
                  </a:txBody>
                  <a:tcPr marL="164592" anchor="ctr"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161B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값</a:t>
                      </a:r>
                    </a:p>
                  </a:txBody>
                  <a:tcPr marL="164592" anchor="ctr"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161B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의미</a:t>
                      </a:r>
                    </a:p>
                  </a:txBody>
                  <a:tcPr marL="164592" anchor="ctr">
                    <a:solidFill>
                      <a:srgbClr val="EEF5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16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유효보행폭 비율 오차</a:t>
                      </a:r>
                    </a:p>
                  </a:txBody>
                  <a:tcPr marL="1645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A6FD6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0.017</a:t>
                      </a:r>
                    </a:p>
                  </a:txBody>
                  <a:tcPr marL="1645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16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954장 · 97%가 ±0.1 이내</a:t>
                      </a:r>
                    </a:p>
                  </a:txBody>
                  <a:tcPr marL="16459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16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보도 소멸 판정 F1</a:t>
                      </a:r>
                    </a:p>
                  </a:txBody>
                  <a:tcPr marL="16459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A6FD6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0.915</a:t>
                      </a:r>
                    </a:p>
                  </a:txBody>
                  <a:tcPr marL="16459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16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보도가 끊긴 사진 판별</a:t>
                      </a:r>
                    </a:p>
                  </a:txBody>
                  <a:tcPr marL="164592" anchor="ctr">
                    <a:solidFill>
                      <a:srgbClr val="F4F6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16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보도면 mIoU</a:t>
                      </a:r>
                    </a:p>
                  </a:txBody>
                  <a:tcPr marL="1645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A6FD6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0.670</a:t>
                      </a:r>
                    </a:p>
                  </a:txBody>
                  <a:tcPr marL="1645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16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보도·차도·골목 등 9종</a:t>
                      </a:r>
                    </a:p>
                  </a:txBody>
                  <a:tcPr marL="16459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16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장애물 mIoU</a:t>
                      </a:r>
                    </a:p>
                  </a:txBody>
                  <a:tcPr marL="16459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A6FD6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0.755</a:t>
                      </a:r>
                    </a:p>
                  </a:txBody>
                  <a:tcPr marL="16459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16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1,566장 · 희소 클래스 보강</a:t>
                      </a:r>
                    </a:p>
                  </a:txBody>
                  <a:tcPr marL="164592" anchor="ctr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1243584" y="10927080"/>
            <a:ext cx="11338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14161B"/>
                </a:solidFill>
                <a:latin typeface="Pretendard SemiBold"/>
                <a:ea typeface="Pretendard SemiBold"/>
                <a:cs typeface="Pretendard SemiBold"/>
              </a:rPr>
              <a:t>결과 해석 — 모델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43584" y="11475720"/>
            <a:ext cx="113385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14161B"/>
                </a:solidFill>
                <a:latin typeface="Pretendard SemiBold"/>
                <a:ea typeface="Pretendard SemiBold"/>
                <a:cs typeface="Pretendard SemiBold"/>
              </a:rPr>
              <a:t>범용 AI만으로는 부족 </a:t>
            </a:r>
            <a:r>
              <a:rPr sz="1800" b="0">
                <a:solidFill>
                  <a:srgbClr val="4F535B"/>
                </a:solidFill>
                <a:latin typeface="Pretendard"/>
                <a:ea typeface="Pretendard"/>
                <a:cs typeface="Pretendard"/>
              </a:rPr>
              <a:t>zero-shot은 차도·골목, 볼라드·입간판을 거의 구분하지 못함 → 한국 보도 데이터 파인튜닝이 핵심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800" b="0">
                <a:solidFill>
                  <a:srgbClr val="14161B"/>
                </a:solidFill>
                <a:latin typeface="Pretendard SemiBold"/>
                <a:ea typeface="Pretendard SemiBold"/>
                <a:cs typeface="Pretendard SemiBold"/>
              </a:rPr>
              <a:t>작은 모델로 현장 적용 </a:t>
            </a:r>
            <a:r>
              <a:rPr sz="1800" b="0">
                <a:solidFill>
                  <a:srgbClr val="4F535B"/>
                </a:solidFill>
                <a:latin typeface="Pretendard"/>
                <a:ea typeface="Pretendard"/>
                <a:cs typeface="Pretendard"/>
              </a:rPr>
              <a:t>3,600만 파라미터 모델이 8억 파라미터 SAM 3보다 오차 1/3 — 서버 없이 브라우저에서 실행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800" b="0">
                <a:solidFill>
                  <a:srgbClr val="14161B"/>
                </a:solidFill>
                <a:latin typeface="Pretendard SemiBold"/>
                <a:ea typeface="Pretendard SemiBold"/>
                <a:cs typeface="Pretendard SemiBold"/>
              </a:rPr>
              <a:t>LLM은 근거가 있을 때만 </a:t>
            </a:r>
            <a:r>
              <a:rPr sz="1800" b="0">
                <a:solidFill>
                  <a:srgbClr val="4F535B"/>
                </a:solidFill>
                <a:latin typeface="Pretendard"/>
                <a:ea typeface="Pretendard"/>
                <a:cs typeface="Pretendard"/>
              </a:rPr>
              <a:t>단독 판정 시 차량 오경보 29% → 분할 결과와 교차검증한 사실만 메모에 사용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22224" y="2103120"/>
            <a:ext cx="99120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14161B"/>
                </a:solidFill>
                <a:latin typeface="Pretendard SemiBold"/>
                <a:ea typeface="Pretendard SemiBold"/>
                <a:cs typeface="Pretendard SemiBold"/>
              </a:rPr>
              <a:t>서울 도심 실사진 적용</a:t>
            </a:r>
            <a:r>
              <a:rPr sz="2000" b="0">
                <a:solidFill>
                  <a:srgbClr val="8A8E96"/>
                </a:solidFill>
                <a:latin typeface="Pretendard"/>
                <a:ea typeface="Pretendard"/>
                <a:cs typeface="Pretendard"/>
              </a:rPr>
              <a:t>   7,559장 · 464개 구간 · 28.3 km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222224" y="2697480"/>
            <a:ext cx="6309360" cy="4933041"/>
          </a:xfrm>
          <a:prstGeom prst="roundRect">
            <a:avLst>
              <a:gd name="adj" fmla="val 8000"/>
            </a:avLst>
          </a:prstGeom>
          <a:solidFill>
            <a:srgbClr val="FCFCFB"/>
          </a:solidFill>
          <a:ln w="15875">
            <a:solidFill>
              <a:srgbClr val="E2E5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2" name="밀려나는 구간 지도" descr="map_6.80x5.29_0.5_0.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67944" y="2743200"/>
            <a:ext cx="6217920" cy="4841601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19897344" y="2697480"/>
            <a:ext cx="3236976" cy="2148840"/>
          </a:xfrm>
          <a:prstGeom prst="roundRect">
            <a:avLst>
              <a:gd name="adj" fmla="val 8000"/>
            </a:avLst>
          </a:prstGeom>
          <a:solidFill>
            <a:srgbClr val="FCED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171664" y="2834640"/>
            <a:ext cx="2779776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14161B"/>
                </a:solidFill>
                <a:latin typeface="Pretendard SemiBold"/>
                <a:ea typeface="Pretendard SemiBold"/>
                <a:cs typeface="Pretendard SemiBold"/>
              </a:rPr>
              <a:t>차도로 밀려나는 구간</a:t>
            </a:r>
          </a:p>
          <a:p>
            <a:pPr algn="l">
              <a:lnSpc>
                <a:spcPct val="110000"/>
              </a:lnSpc>
            </a:pPr>
            <a:r>
              <a:rPr sz="4400" b="0">
                <a:solidFill>
                  <a:srgbClr val="D6403A"/>
                </a:solidFill>
                <a:latin typeface="Pretendard ExtraBold"/>
                <a:ea typeface="Pretendard ExtraBold"/>
                <a:cs typeface="Pretendard ExtraBold"/>
              </a:rPr>
              <a:t>164개</a:t>
            </a:r>
          </a:p>
          <a:p>
            <a:pPr algn="l">
              <a:lnSpc>
                <a:spcPct val="110000"/>
              </a:lnSpc>
            </a:pPr>
            <a:r>
              <a:rPr sz="1700" b="0">
                <a:solidFill>
                  <a:srgbClr val="4F535B"/>
                </a:solidFill>
                <a:latin typeface="Pretendard"/>
                <a:ea typeface="Pretendard"/>
                <a:cs typeface="Pretendard"/>
              </a:rPr>
              <a:t>8.7 km · 측정의 31%</a:t>
            </a:r>
          </a:p>
        </p:txBody>
      </p:sp>
      <p:sp>
        <p:nvSpPr>
          <p:cNvPr id="25" name="Oval 24"/>
          <p:cNvSpPr/>
          <p:nvPr/>
        </p:nvSpPr>
        <p:spPr>
          <a:xfrm>
            <a:off x="19897344" y="5148072"/>
            <a:ext cx="384048" cy="384048"/>
          </a:xfrm>
          <a:prstGeom prst="ellipse">
            <a:avLst/>
          </a:prstGeom>
          <a:solidFill>
            <a:srgbClr val="D6403A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2400" b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445984" y="5074920"/>
            <a:ext cx="268833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4F535B"/>
                </a:solidFill>
                <a:latin typeface="Pretendard"/>
                <a:ea typeface="Pretendard"/>
                <a:cs typeface="Pretendard"/>
              </a:rPr>
              <a:t>위험</a:t>
            </a:r>
            <a:r>
              <a:rPr sz="2100" b="0">
                <a:solidFill>
                  <a:srgbClr val="14161B"/>
                </a:solidFill>
                <a:latin typeface="Pretendard SemiBold"/>
                <a:ea typeface="Pretendard SemiBold"/>
                <a:cs typeface="Pretendard SemiBold"/>
              </a:rPr>
              <a:t>  101개</a:t>
            </a:r>
          </a:p>
        </p:txBody>
      </p:sp>
      <p:sp>
        <p:nvSpPr>
          <p:cNvPr id="27" name="Oval 26"/>
          <p:cNvSpPr/>
          <p:nvPr/>
        </p:nvSpPr>
        <p:spPr>
          <a:xfrm>
            <a:off x="19897344" y="5833872"/>
            <a:ext cx="384048" cy="384048"/>
          </a:xfrm>
          <a:prstGeom prst="ellipse">
            <a:avLst/>
          </a:prstGeom>
          <a:solidFill>
            <a:srgbClr val="E89A12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2400" b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445984" y="5760720"/>
            <a:ext cx="268833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4F535B"/>
                </a:solidFill>
                <a:latin typeface="Pretendard"/>
                <a:ea typeface="Pretendard"/>
                <a:cs typeface="Pretendard"/>
              </a:rPr>
              <a:t>주의</a:t>
            </a:r>
            <a:r>
              <a:rPr sz="2100" b="0">
                <a:solidFill>
                  <a:srgbClr val="14161B"/>
                </a:solidFill>
                <a:latin typeface="Pretendard SemiBold"/>
                <a:ea typeface="Pretendard SemiBold"/>
                <a:cs typeface="Pretendard SemiBold"/>
              </a:rPr>
              <a:t>  69개</a:t>
            </a:r>
          </a:p>
        </p:txBody>
      </p:sp>
      <p:sp>
        <p:nvSpPr>
          <p:cNvPr id="29" name="Oval 28"/>
          <p:cNvSpPr/>
          <p:nvPr/>
        </p:nvSpPr>
        <p:spPr>
          <a:xfrm>
            <a:off x="19897344" y="6519672"/>
            <a:ext cx="384048" cy="384048"/>
          </a:xfrm>
          <a:prstGeom prst="ellipse">
            <a:avLst/>
          </a:prstGeom>
          <a:solidFill>
            <a:srgbClr val="1A9A55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2400" b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445984" y="6446520"/>
            <a:ext cx="268833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4F535B"/>
                </a:solidFill>
                <a:latin typeface="Pretendard"/>
                <a:ea typeface="Pretendard"/>
                <a:cs typeface="Pretendard"/>
              </a:rPr>
              <a:t>안전</a:t>
            </a:r>
            <a:r>
              <a:rPr sz="2100" b="0">
                <a:solidFill>
                  <a:srgbClr val="14161B"/>
                </a:solidFill>
                <a:latin typeface="Pretendard SemiBold"/>
                <a:ea typeface="Pretendard SemiBold"/>
                <a:cs typeface="Pretendard SemiBold"/>
              </a:rPr>
              <a:t>  294개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897344" y="7178040"/>
            <a:ext cx="323697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4F535B"/>
                </a:solidFill>
                <a:latin typeface="Pretendard"/>
                <a:ea typeface="Pretendard"/>
                <a:cs typeface="Pretendard"/>
              </a:rPr>
              <a:t>보차 혼용</a:t>
            </a:r>
            <a:r>
              <a:rPr sz="2100" b="0">
                <a:solidFill>
                  <a:srgbClr val="14161B"/>
                </a:solidFill>
                <a:latin typeface="Pretendard SemiBold"/>
                <a:ea typeface="Pretendard SemiBold"/>
                <a:cs typeface="Pretendard SemiBold"/>
              </a:rPr>
              <a:t>  149개</a:t>
            </a:r>
          </a:p>
        </p:txBody>
      </p:sp>
      <p:pic>
        <p:nvPicPr>
          <p:cNvPr id="32" name="창경궁로5가길 · 92점" descr="b_TL_3.41x2.45_0.5_0.6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22224" y="7950561"/>
            <a:ext cx="3121152" cy="224028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3222224" y="10263993"/>
            <a:ext cx="3121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4F535B"/>
                </a:solidFill>
                <a:latin typeface="Pretendard"/>
                <a:ea typeface="Pretendard"/>
                <a:cs typeface="Pretendard"/>
              </a:rPr>
              <a:t>창경궁로5가길 · 92점</a:t>
            </a:r>
          </a:p>
        </p:txBody>
      </p:sp>
      <p:pic>
        <p:nvPicPr>
          <p:cNvPr id="34" name="을지로33길 · 98점" descr="a_TR_3.41x2.45_0.5_0.65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617695" y="7950561"/>
            <a:ext cx="3121152" cy="224028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6617695" y="10263993"/>
            <a:ext cx="3121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4F535B"/>
                </a:solidFill>
                <a:latin typeface="Pretendard"/>
                <a:ea typeface="Pretendard"/>
                <a:cs typeface="Pretendard"/>
              </a:rPr>
              <a:t>을지로33길 · 98점</a:t>
            </a:r>
          </a:p>
        </p:txBody>
      </p:sp>
      <p:pic>
        <p:nvPicPr>
          <p:cNvPr id="36" name="동호로38길 · 95점" descr="b_BR_3.41x2.45_0.5_0.65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013168" y="7950561"/>
            <a:ext cx="3121152" cy="224028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0013168" y="10263993"/>
            <a:ext cx="3121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4F535B"/>
                </a:solidFill>
                <a:latin typeface="Pretendard"/>
                <a:ea typeface="Pretendard"/>
                <a:cs typeface="Pretendard"/>
              </a:rPr>
              <a:t>동호로38길 · 95점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222224" y="10785201"/>
            <a:ext cx="991209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14161B"/>
                </a:solidFill>
                <a:latin typeface="Pretendard SemiBold"/>
                <a:ea typeface="Pretendard SemiBold"/>
                <a:cs typeface="Pretendard SemiBold"/>
              </a:rPr>
              <a:t>결과 해석 — 현장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222224" y="11333841"/>
            <a:ext cx="9912096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14161B"/>
                </a:solidFill>
                <a:latin typeface="Pretendard SemiBold"/>
                <a:ea typeface="Pretendard SemiBold"/>
                <a:cs typeface="Pretendard SemiBold"/>
              </a:rPr>
              <a:t>큰길은 안전, 그 사이 골목이 끊긴다 </a:t>
            </a:r>
            <a:r>
              <a:rPr sz="1800" b="0">
                <a:solidFill>
                  <a:srgbClr val="4F535B"/>
                </a:solidFill>
                <a:latin typeface="Pretendard"/>
                <a:ea typeface="Pretendard"/>
                <a:cs typeface="Pretendard"/>
              </a:rPr>
              <a:t>— 종로3가~세운상가 일대처럼 구간 단위로 골목별 조치 순서를 정할 수 있음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800" b="0">
                <a:solidFill>
                  <a:srgbClr val="14161B"/>
                </a:solidFill>
                <a:latin typeface="Pretendard SemiBold"/>
                <a:ea typeface="Pretendard SemiBold"/>
                <a:cs typeface="Pretendard SemiBold"/>
              </a:rPr>
              <a:t>보도블록이 깔린 길도 위험할 수 있다 </a:t>
            </a:r>
            <a:r>
              <a:rPr sz="1800" b="0">
                <a:solidFill>
                  <a:srgbClr val="4F535B"/>
                </a:solidFill>
                <a:latin typeface="Pretendard"/>
                <a:ea typeface="Pretendard"/>
                <a:cs typeface="Pretendard"/>
              </a:rPr>
              <a:t>— 차가 드나드는 보차 혼용 149개 구간을 별도 표시</a:t>
            </a:r>
          </a:p>
        </p:txBody>
      </p:sp>
    </p:spTree>
    <p:extLst>
      <p:ext uri="{BB962C8B-B14F-4D97-AF65-F5344CB8AC3E}">
        <p14:creationId xmlns:p14="http://schemas.microsoft.com/office/powerpoint/2010/main" val="1969099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/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20497800" y="355600"/>
            <a:ext cx="3556000" cy="355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7200" y="939800"/>
            <a:ext cx="4902200" cy="127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9697700" y="330200"/>
            <a:ext cx="7747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400" dirty="0">
                <a:solidFill>
                  <a:srgbClr val="828282"/>
                </a:solidFill>
                <a:latin typeface="Pretendard Light"/>
                <a:ea typeface="Pretendard Light"/>
                <a:cs typeface="Pretendard Light"/>
              </a:rPr>
              <a:t>5</a:t>
            </a:r>
            <a:endParaRPr lang="en-US" sz="2400" b="0" i="0" u="none" strike="noStrike" dirty="0">
              <a:solidFill>
                <a:srgbClr val="828282"/>
              </a:solidFill>
              <a:latin typeface="Pretendard Light"/>
              <a:ea typeface="Pretendard Light"/>
              <a:cs typeface="Pretendard Ligh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F65BB0-A33B-3E2C-1318-4F98BB3BB4EA}"/>
              </a:ext>
            </a:extLst>
          </p:cNvPr>
          <p:cNvSpPr txBox="1"/>
          <p:nvPr/>
        </p:nvSpPr>
        <p:spPr>
          <a:xfrm>
            <a:off x="1244600" y="1054100"/>
            <a:ext cx="173736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3333" b="0" i="0" u="none" strike="noStrike" dirty="0">
                <a:solidFill>
                  <a:srgbClr val="4D9CFE"/>
                </a:solidFill>
                <a:latin typeface="Pretendard SemiBold"/>
                <a:ea typeface="Pretendard SemiBold"/>
                <a:cs typeface="Pretendard SemiBold"/>
              </a:rPr>
              <a:t>6. </a:t>
            </a:r>
            <a:r>
              <a:rPr lang="ko-KR" altLang="en-US" sz="3333" b="0" i="0" u="none" strike="noStrike" dirty="0">
                <a:solidFill>
                  <a:srgbClr val="4D9CFE"/>
                </a:solidFill>
                <a:latin typeface="Pretendard SemiBold"/>
                <a:ea typeface="Pretendard SemiBold"/>
                <a:cs typeface="Pretendard SemiBold"/>
              </a:rPr>
              <a:t>개발 과정에서 애로점 </a:t>
            </a:r>
            <a:r>
              <a:rPr lang="en-US" altLang="ko-KR" sz="3333" b="0" i="0" u="none" strike="noStrike" dirty="0">
                <a:solidFill>
                  <a:srgbClr val="4D9CFE"/>
                </a:solidFill>
                <a:latin typeface="Pretendard SemiBold"/>
                <a:ea typeface="Pretendard SemiBold"/>
                <a:cs typeface="Pretendard SemiBold"/>
              </a:rPr>
              <a:t>/ 7. </a:t>
            </a:r>
            <a:r>
              <a:rPr lang="ko-KR" altLang="en-US" sz="3333" b="0" i="0" u="none" strike="noStrike" dirty="0">
                <a:solidFill>
                  <a:srgbClr val="4D9CFE"/>
                </a:solidFill>
                <a:latin typeface="Pretendard SemiBold"/>
                <a:ea typeface="Pretendard SemiBold"/>
                <a:cs typeface="Pretendard SemiBold"/>
              </a:rPr>
              <a:t>기대효과</a:t>
            </a:r>
            <a:endParaRPr lang="en-US" altLang="ko-KR" sz="3333" b="0" i="0" u="none" strike="noStrike" dirty="0">
              <a:solidFill>
                <a:srgbClr val="4D9CFE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243584" y="2103120"/>
            <a:ext cx="11521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14161B"/>
                </a:solidFill>
                <a:latin typeface="Pretendard SemiBold"/>
                <a:ea typeface="Pretendard SemiBold"/>
                <a:cs typeface="Pretendard SemiBold"/>
              </a:rPr>
              <a:t>6. 개발 과정에서 애로점 → 해결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43584" y="2743200"/>
            <a:ext cx="11521440" cy="16642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63624" y="2907792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D6403A"/>
                </a:solidFill>
                <a:latin typeface="Pretendard SemiBold"/>
                <a:ea typeface="Pretendard SemiBold"/>
                <a:cs typeface="Pretendard SemiBold"/>
              </a:rPr>
              <a:t>라벨이 서로 빠져 있음</a:t>
            </a:r>
            <a:r>
              <a:rPr sz="1700" b="0">
                <a:solidFill>
                  <a:srgbClr val="4F535B"/>
                </a:solidFill>
                <a:latin typeface="Pretendard"/>
                <a:ea typeface="Pretendard"/>
                <a:cs typeface="Pretendard"/>
              </a:rPr>
              <a:t>   AI Hub 보도면 데이터엔 장애물, 장애물 데이터엔 보도면 라벨이 없음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63624" y="349300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2A6FD6"/>
                </a:solidFill>
                <a:latin typeface="Pretendard ExtraBold"/>
                <a:ea typeface="Pretendard ExtraBold"/>
                <a:cs typeface="Pretendard ExtraBold"/>
              </a:rPr>
              <a:t>→ </a:t>
            </a:r>
            <a:r>
              <a:rPr sz="1900" b="0">
                <a:solidFill>
                  <a:srgbClr val="14161B"/>
                </a:solidFill>
                <a:latin typeface="Pretendard SemiBold"/>
                <a:ea typeface="Pretendard SemiBold"/>
                <a:cs typeface="Pretendard SemiBold"/>
              </a:rPr>
              <a:t>전문 모델 2개 결합(채택) vs SAM 3 의사 라벨 14만 개 통합 모델 — 정확도 −3점, 비용 절반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43584" y="4498848"/>
            <a:ext cx="11521440" cy="16642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63624" y="466344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D6403A"/>
                </a:solidFill>
                <a:latin typeface="Pretendard SemiBold"/>
                <a:ea typeface="Pretendard SemiBold"/>
                <a:cs typeface="Pretendard SemiBold"/>
              </a:rPr>
              <a:t>검증 점수 부풀림</a:t>
            </a:r>
            <a:r>
              <a:rPr sz="1700" b="0">
                <a:solidFill>
                  <a:srgbClr val="4F535B"/>
                </a:solidFill>
                <a:latin typeface="Pretendard"/>
                <a:ea typeface="Pretendard"/>
                <a:cs typeface="Pretendard"/>
              </a:rPr>
              <a:t>   연속 프레임이 학습·검증에 섞여 성능이 과대평가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63624" y="5248656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2A6FD6"/>
                </a:solidFill>
                <a:latin typeface="Pretendard ExtraBold"/>
                <a:ea typeface="Pretendard ExtraBold"/>
                <a:cs typeface="Pretendard ExtraBold"/>
              </a:rPr>
              <a:t>→ </a:t>
            </a:r>
            <a:r>
              <a:rPr sz="1900" b="0">
                <a:solidFill>
                  <a:srgbClr val="14161B"/>
                </a:solidFill>
                <a:latin typeface="Pretendard SemiBold"/>
                <a:ea typeface="Pretendard SemiBold"/>
                <a:cs typeface="Pretendard SemiBold"/>
              </a:rPr>
              <a:t>촬영 폴더 단위로 학습/검증 분리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43584" y="6254496"/>
            <a:ext cx="11521440" cy="16642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63624" y="6419088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D6403A"/>
                </a:solidFill>
                <a:latin typeface="Pretendard SemiBold"/>
                <a:ea typeface="Pretendard SemiBold"/>
                <a:cs typeface="Pretendard SemiBold"/>
              </a:rPr>
              <a:t>장애물이 있어도 비율 1.0</a:t>
            </a:r>
            <a:r>
              <a:rPr sz="1700" b="0">
                <a:solidFill>
                  <a:srgbClr val="4F535B"/>
                </a:solidFill>
                <a:latin typeface="Pretendard"/>
                <a:ea typeface="Pretendard"/>
                <a:cs typeface="Pretendard"/>
              </a:rPr>
              <a:t>   노점·입간판이 평균에 희석, 마스크 틈으로 분리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63624" y="7004304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2A6FD6"/>
                </a:solidFill>
                <a:latin typeface="Pretendard ExtraBold"/>
                <a:ea typeface="Pretendard ExtraBold"/>
                <a:cs typeface="Pretendard ExtraBold"/>
              </a:rPr>
              <a:t>→ </a:t>
            </a:r>
            <a:r>
              <a:rPr sz="1900" b="0">
                <a:solidFill>
                  <a:srgbClr val="14161B"/>
                </a:solidFill>
                <a:latin typeface="Pretendard SemiBold"/>
                <a:ea typeface="Pretendard SemiBold"/>
                <a:cs typeface="Pretendard SemiBold"/>
              </a:rPr>
              <a:t>평균 대신 가장 좁은 곳(병목) + 통과 여유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43584" y="8010144"/>
            <a:ext cx="11521440" cy="16642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63624" y="8174736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D6403A"/>
                </a:solidFill>
                <a:latin typeface="Pretendard SemiBold"/>
                <a:ea typeface="Pretendard SemiBold"/>
                <a:cs typeface="Pretendard SemiBold"/>
              </a:rPr>
              <a:t>실사진 오판</a:t>
            </a:r>
            <a:r>
              <a:rPr sz="1700" b="0">
                <a:solidFill>
                  <a:srgbClr val="4F535B"/>
                </a:solidFill>
                <a:latin typeface="Pretendard"/>
                <a:ea typeface="Pretendard"/>
                <a:cs typeface="Pretendard"/>
              </a:rPr>
              <a:t>   가게 진열창·근접 사진이 ‘보도 소멸’로 집계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8759952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2A6FD6"/>
                </a:solidFill>
                <a:latin typeface="Pretendard ExtraBold"/>
                <a:ea typeface="Pretendard ExtraBold"/>
                <a:cs typeface="Pretendard ExtraBold"/>
              </a:rPr>
              <a:t>→ </a:t>
            </a:r>
            <a:r>
              <a:rPr sz="1900" b="0">
                <a:solidFill>
                  <a:srgbClr val="14161B"/>
                </a:solidFill>
                <a:latin typeface="Pretendard SemiBold"/>
                <a:ea typeface="Pretendard SemiBold"/>
                <a:cs typeface="Pretendard SemiBold"/>
              </a:rPr>
              <a:t>바닥이 안 보이면 ‘측정 불가’로 제외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43584" y="9765792"/>
            <a:ext cx="11521440" cy="16642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63624" y="9930384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D6403A"/>
                </a:solidFill>
                <a:latin typeface="Pretendard SemiBold"/>
                <a:ea typeface="Pretendard SemiBold"/>
                <a:cs typeface="Pretendard SemiBold"/>
              </a:rPr>
              <a:t>LLM 환각</a:t>
            </a:r>
            <a:r>
              <a:rPr sz="1700" b="0">
                <a:solidFill>
                  <a:srgbClr val="4F535B"/>
                </a:solidFill>
                <a:latin typeface="Pretendard"/>
                <a:ea typeface="Pretendard"/>
                <a:cs typeface="Pretendard"/>
              </a:rPr>
              <a:t>   8B 모델도 없는 차량을 있다고 답함(오경보 29%)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63624" y="105156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2A6FD6"/>
                </a:solidFill>
                <a:latin typeface="Pretendard ExtraBold"/>
                <a:ea typeface="Pretendard ExtraBold"/>
                <a:cs typeface="Pretendard ExtraBold"/>
              </a:rPr>
              <a:t>→ </a:t>
            </a:r>
            <a:r>
              <a:rPr sz="1900" b="0">
                <a:solidFill>
                  <a:srgbClr val="14161B"/>
                </a:solidFill>
                <a:latin typeface="Pretendard SemiBold"/>
                <a:ea typeface="Pretendard SemiBold"/>
                <a:cs typeface="Pretendard SemiBold"/>
              </a:rPr>
              <a:t>닫힌 질문 + 분할 결과와 교차검증한 사실만 사용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43584" y="11521440"/>
            <a:ext cx="11521440" cy="16642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63624" y="11686032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D6403A"/>
                </a:solidFill>
                <a:latin typeface="Pretendard SemiBold"/>
                <a:ea typeface="Pretendard SemiBold"/>
                <a:cs typeface="Pretendard SemiBold"/>
              </a:rPr>
              <a:t>데이터·배포</a:t>
            </a:r>
            <a:r>
              <a:rPr sz="1700" b="0">
                <a:solidFill>
                  <a:srgbClr val="4F535B"/>
                </a:solidFill>
                <a:latin typeface="Pretendard"/>
                <a:ea typeface="Pretendard"/>
                <a:cs typeface="Pretendard"/>
              </a:rPr>
              <a:t>   지도앱 로드뷰는 약관상 불가, 무료 서버 호스팅 중단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63624" y="1227124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2A6FD6"/>
                </a:solidFill>
                <a:latin typeface="Pretendard ExtraBold"/>
                <a:ea typeface="Pretendard ExtraBold"/>
                <a:cs typeface="Pretendard ExtraBold"/>
              </a:rPr>
              <a:t>→ </a:t>
            </a:r>
            <a:r>
              <a:rPr sz="1900" b="0">
                <a:solidFill>
                  <a:srgbClr val="14161B"/>
                </a:solidFill>
                <a:latin typeface="Pretendard SemiBold"/>
                <a:ea typeface="Pretendard SemiBold"/>
                <a:cs typeface="Pretendard SemiBold"/>
              </a:rPr>
              <a:t>Mapillary(CC BY-SA)+OpenStreetMap, 브라우저 추론 웹앱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13663" y="2103120"/>
            <a:ext cx="98206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14161B"/>
                </a:solidFill>
                <a:latin typeface="Pretendard SemiBold"/>
                <a:ea typeface="Pretendard SemiBold"/>
                <a:cs typeface="Pretendard SemiBold"/>
              </a:rPr>
              <a:t>7. 기대효과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3313663" y="2743200"/>
            <a:ext cx="9820656" cy="1783080"/>
          </a:xfrm>
          <a:prstGeom prst="roundRect">
            <a:avLst>
              <a:gd name="adj" fmla="val 8000"/>
            </a:avLst>
          </a:prstGeom>
          <a:solidFill>
            <a:srgbClr val="EEF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633703" y="2926080"/>
            <a:ext cx="2103120" cy="14173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2A6FD6"/>
                </a:solidFill>
                <a:latin typeface="Pretendard ExtraBold"/>
                <a:ea typeface="Pretendard ExtraBold"/>
                <a:cs typeface="Pretendard ExtraBold"/>
              </a:rPr>
              <a:t>지자체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691104" y="2926080"/>
            <a:ext cx="7123176" cy="14173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14161B"/>
                </a:solidFill>
                <a:latin typeface="Pretendard"/>
                <a:ea typeface="Pretendard"/>
                <a:cs typeface="Pretendard"/>
              </a:rPr>
              <a:t>민원·순찰 의존 점검 → 촬영 후 자동 리포트. 구간별 단속·정비 우선순위와 예산 배분 근거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313663" y="4709160"/>
            <a:ext cx="9820656" cy="1783080"/>
          </a:xfrm>
          <a:prstGeom prst="roundRect">
            <a:avLst>
              <a:gd name="adj" fmla="val 8000"/>
            </a:avLst>
          </a:prstGeom>
          <a:solidFill>
            <a:srgbClr val="EEF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633703" y="4892040"/>
            <a:ext cx="2103120" cy="14173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2A6FD6"/>
                </a:solidFill>
                <a:latin typeface="Pretendard ExtraBold"/>
                <a:ea typeface="Pretendard ExtraBold"/>
                <a:cs typeface="Pretendard ExtraBold"/>
              </a:rPr>
              <a:t>보행약자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691104" y="4892040"/>
            <a:ext cx="7123176" cy="14173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14161B"/>
                </a:solidFill>
                <a:latin typeface="Pretendard"/>
                <a:ea typeface="Pretendard"/>
                <a:cs typeface="Pretendard"/>
              </a:rPr>
              <a:t>휠체어 기준(통과 폭 0.7·단차 가중)으로 지나갈 수 없는 구간을 정량화 — 디지털 포용 정책 기초자료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3313663" y="6675120"/>
            <a:ext cx="9820656" cy="1783080"/>
          </a:xfrm>
          <a:prstGeom prst="roundRect">
            <a:avLst>
              <a:gd name="adj" fmla="val 8000"/>
            </a:avLst>
          </a:prstGeom>
          <a:solidFill>
            <a:srgbClr val="EEF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3633703" y="6858000"/>
            <a:ext cx="2103120" cy="14173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2A6FD6"/>
                </a:solidFill>
                <a:latin typeface="Pretendard ExtraBold"/>
                <a:ea typeface="Pretendard ExtraBold"/>
                <a:cs typeface="Pretendard ExtraBold"/>
              </a:rPr>
              <a:t>확장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691104" y="6858000"/>
            <a:ext cx="7123176" cy="14173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14161B"/>
                </a:solidFill>
                <a:latin typeface="Pretendard"/>
                <a:ea typeface="Pretendard"/>
                <a:cs typeface="Pretendard"/>
              </a:rPr>
              <a:t>청소차·순찰차·배달 이륜차 카메라에 그대로 적용(경량 모델, 서버 불필요). 정기 재분석으로 상습 구간 탐지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313663" y="8823960"/>
            <a:ext cx="98206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14161B"/>
                </a:solidFill>
                <a:latin typeface="Pretendard SemiBold"/>
                <a:ea typeface="Pretendard SemiBold"/>
                <a:cs typeface="Pretendard SemiBold"/>
              </a:rPr>
              <a:t>한계 및 개선방안</a:t>
            </a:r>
          </a:p>
        </p:txBody>
      </p:sp>
      <p:graphicFrame>
        <p:nvGraphicFramePr>
          <p:cNvPr id="43" name="Table 42"/>
          <p:cNvGraphicFramePr>
            <a:graphicFrameLocks noGrp="1"/>
          </p:cNvGraphicFramePr>
          <p:nvPr/>
        </p:nvGraphicFramePr>
        <p:xfrm>
          <a:off x="13313663" y="9418320"/>
          <a:ext cx="9820656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10328"/>
                <a:gridCol w="4910328"/>
              </a:tblGrid>
              <a:tr h="749807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D6403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한계</a:t>
                      </a:r>
                    </a:p>
                  </a:txBody>
                  <a:tcPr marL="164592" marR="109728" anchor="ctr">
                    <a:solidFill>
                      <a:srgbClr val="FCED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A6FD6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개선방안</a:t>
                      </a:r>
                    </a:p>
                  </a:txBody>
                  <a:tcPr marL="164592" marR="109728" anchor="ctr">
                    <a:solidFill>
                      <a:srgbClr val="EEF5FF"/>
                    </a:solidFill>
                  </a:tcPr>
                </a:tc>
              </a:tr>
              <a:tr h="749807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16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사진이 지나간 길만 측정, 촬영 시점 혼재(2015~2025)</a:t>
                      </a:r>
                    </a:p>
                  </a:txBody>
                  <a:tcPr marL="164592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16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공공 차량 카메라로 정기 촬영 → 시점별 변화·조치 전후 비교</a:t>
                      </a:r>
                    </a:p>
                  </a:txBody>
                  <a:tcPr marL="164592" marR="109728" anchor="ctr">
                    <a:solidFill>
                      <a:srgbClr val="FFFFFF"/>
                    </a:solidFill>
                  </a:tcPr>
                </a:tc>
              </a:tr>
              <a:tr h="749807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16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정량 검증은 AI Hub 검증셋 기준</a:t>
                      </a:r>
                    </a:p>
                  </a:txBody>
                  <a:tcPr marL="164592" marR="109728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16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지자체와 현장 실측·담당자 판정으로 실사진 검증</a:t>
                      </a:r>
                    </a:p>
                  </a:txBody>
                  <a:tcPr marL="164592" marR="109728" anchor="ctr">
                    <a:solidFill>
                      <a:srgbClr val="F4F6F8"/>
                    </a:solidFill>
                  </a:tcPr>
                </a:tc>
              </a:tr>
              <a:tr h="749807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16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점수 가중치는 연구자 설정값</a:t>
                      </a:r>
                    </a:p>
                  </a:txBody>
                  <a:tcPr marL="164592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16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담당자 피드백으로 가중치 보정</a:t>
                      </a:r>
                    </a:p>
                  </a:txBody>
                  <a:tcPr marL="164592" marR="109728" anchor="ctr">
                    <a:solidFill>
                      <a:srgbClr val="FFFFFF"/>
                    </a:solidFill>
                  </a:tcPr>
                </a:tc>
              </a:tr>
              <a:tr h="749811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16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계단·공사 등 희소 유형, 야간·우천 미검증</a:t>
                      </a:r>
                    </a:p>
                  </a:txBody>
                  <a:tcPr marL="164592" marR="109728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161B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현장 데이터 보강 후 재학습</a:t>
                      </a:r>
                    </a:p>
                  </a:txBody>
                  <a:tcPr marL="164592" marR="109728" anchor="ctr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9099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631</TotalTime>
  <Words>79</Words>
  <Application>Microsoft Office PowerPoint</Application>
  <PresentationFormat>사용자 지정</PresentationFormat>
  <Paragraphs>12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0" baseType="lpstr">
      <vt:lpstr>Pretendard SemiBold</vt:lpstr>
      <vt:lpstr>Pretendard Regular</vt:lpstr>
      <vt:lpstr>Arial</vt:lpstr>
      <vt:lpstr>Pretendard Light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전영건</dc:creator>
  <cp:lastModifiedBy>USER</cp:lastModifiedBy>
  <cp:revision>68</cp:revision>
  <cp:lastPrinted>2026-05-13T05:20:53Z</cp:lastPrinted>
  <dcterms:created xsi:type="dcterms:W3CDTF">2006-08-16T00:00:00Z</dcterms:created>
  <dcterms:modified xsi:type="dcterms:W3CDTF">2026-09-08T02:10:16Z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Fasoo_Trace_ID" pid="2">
    <vt:lpwstr>eyJub2RlMSI6eyJkc2QiOiIwMDAwMDAwMDAwMDAwMDAwIiwibG9nVGltZSI6IjIwMjYtMDYtMTBUMDE6NTM6NDBaIiwicElEIjoyMDQ4LCJwcm9jZXNzSWQiOjIwMjY0LCJwcm9jZXNzTmFtZSI6IlBPV0VSUE5ULkVYRSIsInRyYWNlSWQiOiI2MjdDOEYyMzY0OTA0MDM4OUY3N0ZDMUM4MEM2NDlDMyIsInVzZXJDb2RlIjoiUktUTFZIUlhLUyJ9LCJub2RlMiI6eyJkc2QiOiIwMTAwMDAwMDAwMDAyMjQwIiwibG9nVGltZSI6IjIwMjYtMDYtMTZUMDA6MDg6MzBaIiwicElEIjoxLCJwcm9jZXNzSWQiOjIwMjY0LCJwcm9jZXNzTmFtZSI6IlBPV0VSUE5ULkVYRSIsInRyYWNlSWQiOiIzNUJBRkE3NzgwMUI0NDUzOUNBNDQyRDRBMDRFRDE2NCIsInVzZXJDb2RlIjoiUktUTFZIUlhLUyJ9LCJub2RlMyI6eyJkc2QiOiIwMDAwMDAwMDAwMDAwMDAwIiwibG9nVGltZSI6IjIwMjYtMDYtMTZUMDA6MjQ6MzBaIiwicElEIjoyMDQ4LCJwcm9jZXNzSWQiOjIwMjY0LCJwcm9jZXNzTmFtZSI6IlBPV0VSUE5ULkVYRSIsInRyYWNlSWQiOiJDNzQxNjYyMEI1Qzc0MjQ5OTQ0Qzg1NDZEOUU5NDBFMSIsInVzZXJDb2RlIjoiUktUTFZIUlhLUyJ9LCJub2RlNCI6eyJkc2QiOiIwMTAwMDAwMDAwMDAyMjQwIiwibG9nVGltZSI6IjIwMjYtMDktMDhUMDI6MTA6MDRaIiwicElEIjoxLCJwcm9jZXNzSWQiOjIwMjY0LCJwcm9jZXNzTmFtZSI6IlBPV0VSUE5ULkVYRSIsInRyYWNlSWQiOiI2ODYwQjFBRTAwRTI0NjY4QjcyMUI4NzUzRkJGREVCQiIsInVzZXJDb2RlIjoiUktUTFZIUlhLUyJ9LCJub2RlNSI6eyJkc2QiOiIwMDAwMDAwMDAwMDAwMDAwIiwibG9nVGltZSI6IjIwMjYtMDktMTBUMDc6MTc6MjBaIiwicElEIjoyMDQ4LCJwcm9jZXNzSWQiOjExNDI0LCJwcm9jZXNzTmFtZSI6IlBPV0VSUE5ULkVYRSIsInRyYWNlSWQiOiI2Mzg2MzA4OEFFQzQ0MTdCOTc4OUMxM0RDMTA2RkRBQyIsInVzZXJDb2RlIjoiUktUTFZIUlhLUyJ9LCJub2RlQ291bnQiOjYsInJvb3RUcmFjZUlkIjoiRENBOEVBN0RBOUQzNEU0Qjg4NEMxQzVEMTFGODQ4NzgifQ==</vt:lpwstr>
  </property>
</Properties>
</file>